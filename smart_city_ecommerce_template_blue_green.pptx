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smart_city_operation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smart_city_operation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smart_city_operation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smart_city_operation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[smart_city_operations.xlsx]QUESTIONS!PivotTable1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10"/>
        <c:spPr>
          <a:gradFill rotWithShape="1">
            <a:gsLst>
              <a:gs pos="0">
                <a:schemeClr val="accent2">
                  <a:shade val="51000"/>
                  <a:satMod val="130000"/>
                </a:schemeClr>
              </a:gs>
              <a:gs pos="80000">
                <a:schemeClr val="accent2">
                  <a:shade val="93000"/>
                  <a:satMod val="130000"/>
                </a:schemeClr>
              </a:gs>
              <a:gs pos="100000">
                <a:schemeClr val="accent2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11"/>
        <c:spPr>
          <a:gradFill rotWithShape="1">
            <a:gsLst>
              <a:gs pos="0">
                <a:schemeClr val="accent3">
                  <a:shade val="51000"/>
                  <a:satMod val="130000"/>
                </a:schemeClr>
              </a:gs>
              <a:gs pos="8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12"/>
        <c:spPr>
          <a:gradFill rotWithShape="1">
            <a:gsLst>
              <a:gs pos="0">
                <a:schemeClr val="accent4">
                  <a:shade val="51000"/>
                  <a:satMod val="130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13"/>
        <c:spPr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14"/>
        <c:spPr>
          <a:gradFill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1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1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1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1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2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2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2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2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2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2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2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  <c:pivotFmt>
        <c:idx val="2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QUESTIONS!$B$38:$B$39</c:f>
              <c:strCache>
                <c:ptCount val="1"/>
                <c:pt idx="0">
                  <c:v>Bus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03F9-41D6-A9CD-19CAE16018FD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03F9-41D6-A9CD-19CAE16018FD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03F9-41D6-A9CD-19CAE16018FD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03F9-41D6-A9CD-19CAE16018FD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9-03F9-41D6-A9CD-19CAE16018FD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B-03F9-41D6-A9CD-19CAE16018FD}"/>
              </c:ext>
            </c:extLst>
          </c:dPt>
          <c:cat>
            <c:strRef>
              <c:f>QUESTIONS!$A$40:$A$46</c:f>
              <c:strCache>
                <c:ptCount val="6"/>
                <c:pt idx="0">
                  <c:v>Route 101</c:v>
                </c:pt>
                <c:pt idx="1">
                  <c:v>Route 102</c:v>
                </c:pt>
                <c:pt idx="2">
                  <c:v>Route 103</c:v>
                </c:pt>
                <c:pt idx="3">
                  <c:v>Route 201</c:v>
                </c:pt>
                <c:pt idx="4">
                  <c:v>Route 202</c:v>
                </c:pt>
                <c:pt idx="5">
                  <c:v>Route 301</c:v>
                </c:pt>
              </c:strCache>
            </c:strRef>
          </c:cat>
          <c:val>
            <c:numRef>
              <c:f>QUESTIONS!$B$40:$B$46</c:f>
              <c:numCache>
                <c:formatCode>General</c:formatCode>
                <c:ptCount val="6"/>
                <c:pt idx="0">
                  <c:v>11196</c:v>
                </c:pt>
                <c:pt idx="1">
                  <c:v>12161</c:v>
                </c:pt>
                <c:pt idx="2">
                  <c:v>11246</c:v>
                </c:pt>
                <c:pt idx="3">
                  <c:v>9685</c:v>
                </c:pt>
                <c:pt idx="4">
                  <c:v>11006</c:v>
                </c:pt>
                <c:pt idx="5">
                  <c:v>12854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3F9-41D6-A9CD-19CAE16018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[smart_city_operations.xlsx]QUESTIONS!PivotTable2</c:name>
    <c:fmtId val="7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  <c:spPr>
            <a:solidFill>
              <a:schemeClr val="accent2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QUESTIONS!$B$52</c:f>
              <c:strCache>
                <c:ptCount val="1"/>
                <c:pt idx="0">
                  <c:v>Average of Solar_MWh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cat>
            <c:strRef>
              <c:f>QUESTIONS!$A$53:$A$58</c:f>
              <c:strCache>
                <c:ptCount val="5"/>
                <c:pt idx="0">
                  <c:v>Zone A</c:v>
                </c:pt>
                <c:pt idx="1">
                  <c:v>Zone B</c:v>
                </c:pt>
                <c:pt idx="2">
                  <c:v>Zone C</c:v>
                </c:pt>
                <c:pt idx="3">
                  <c:v>Zone D</c:v>
                </c:pt>
                <c:pt idx="4">
                  <c:v>Zone E</c:v>
                </c:pt>
              </c:strCache>
            </c:strRef>
          </c:cat>
          <c:val>
            <c:numRef>
              <c:f>QUESTIONS!$B$53:$B$58</c:f>
              <c:numCache>
                <c:formatCode>General</c:formatCode>
                <c:ptCount val="5"/>
                <c:pt idx="0">
                  <c:v>55.876666666666665</c:v>
                </c:pt>
                <c:pt idx="1">
                  <c:v>53.666666666666664</c:v>
                </c:pt>
                <c:pt idx="2">
                  <c:v>51.279999999999994</c:v>
                </c:pt>
                <c:pt idx="3">
                  <c:v>49.983333333333334</c:v>
                </c:pt>
                <c:pt idx="4">
                  <c:v>47.1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E8-4114-AA70-979B0AB23901}"/>
            </c:ext>
          </c:extLst>
        </c:ser>
        <c:ser>
          <c:idx val="1"/>
          <c:order val="1"/>
          <c:tx>
            <c:strRef>
              <c:f>QUESTIONS!$C$52</c:f>
              <c:strCache>
                <c:ptCount val="1"/>
                <c:pt idx="0">
                  <c:v>Average of Outages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2">
                  <a:lumMod val="75000"/>
                </a:schemeClr>
              </a:contourClr>
            </a:sp3d>
          </c:spPr>
          <c:invertIfNegative val="0"/>
          <c:cat>
            <c:strRef>
              <c:f>QUESTIONS!$A$53:$A$58</c:f>
              <c:strCache>
                <c:ptCount val="5"/>
                <c:pt idx="0">
                  <c:v>Zone A</c:v>
                </c:pt>
                <c:pt idx="1">
                  <c:v>Zone B</c:v>
                </c:pt>
                <c:pt idx="2">
                  <c:v>Zone C</c:v>
                </c:pt>
                <c:pt idx="3">
                  <c:v>Zone D</c:v>
                </c:pt>
                <c:pt idx="4">
                  <c:v>Zone E</c:v>
                </c:pt>
              </c:strCache>
            </c:strRef>
          </c:cat>
          <c:val>
            <c:numRef>
              <c:f>QUESTIONS!$C$53:$C$58</c:f>
              <c:numCache>
                <c:formatCode>General</c:formatCode>
                <c:ptCount val="5"/>
                <c:pt idx="0">
                  <c:v>0.2</c:v>
                </c:pt>
                <c:pt idx="1">
                  <c:v>0.13333333333333333</c:v>
                </c:pt>
                <c:pt idx="2">
                  <c:v>6.6666666666666666E-2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E8-4114-AA70-979B0AB239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49557711"/>
        <c:axId val="2065850079"/>
        <c:axId val="0"/>
      </c:bar3DChart>
      <c:catAx>
        <c:axId val="49557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5850079"/>
        <c:crosses val="autoZero"/>
        <c:auto val="1"/>
        <c:lblAlgn val="ctr"/>
        <c:lblOffset val="100"/>
        <c:noMultiLvlLbl val="0"/>
      </c:catAx>
      <c:valAx>
        <c:axId val="2065850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57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[smart_city_operations.xlsx]QUESTIONS!PivotTable5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QUESTIONS!$B$89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multiLvlStrRef>
              <c:f>QUESTIONS!$A$90:$A$120</c:f>
              <c:multiLvlStrCache>
                <c:ptCount val="25"/>
                <c:lvl>
                  <c:pt idx="0">
                    <c:v>Zone A</c:v>
                  </c:pt>
                  <c:pt idx="1">
                    <c:v>Zone B</c:v>
                  </c:pt>
                  <c:pt idx="2">
                    <c:v>Zone C</c:v>
                  </c:pt>
                  <c:pt idx="3">
                    <c:v>Zone D</c:v>
                  </c:pt>
                  <c:pt idx="4">
                    <c:v>Zone E</c:v>
                  </c:pt>
                  <c:pt idx="5">
                    <c:v>Zone A</c:v>
                  </c:pt>
                  <c:pt idx="6">
                    <c:v>Zone B</c:v>
                  </c:pt>
                  <c:pt idx="7">
                    <c:v>Zone C</c:v>
                  </c:pt>
                  <c:pt idx="8">
                    <c:v>Zone D</c:v>
                  </c:pt>
                  <c:pt idx="9">
                    <c:v>Zone E</c:v>
                  </c:pt>
                  <c:pt idx="10">
                    <c:v>Zone A</c:v>
                  </c:pt>
                  <c:pt idx="11">
                    <c:v>Zone B</c:v>
                  </c:pt>
                  <c:pt idx="12">
                    <c:v>Zone C</c:v>
                  </c:pt>
                  <c:pt idx="13">
                    <c:v>Zone D</c:v>
                  </c:pt>
                  <c:pt idx="14">
                    <c:v>Zone E</c:v>
                  </c:pt>
                  <c:pt idx="15">
                    <c:v>Zone A</c:v>
                  </c:pt>
                  <c:pt idx="16">
                    <c:v>Zone B</c:v>
                  </c:pt>
                  <c:pt idx="17">
                    <c:v>Zone C</c:v>
                  </c:pt>
                  <c:pt idx="18">
                    <c:v>Zone D</c:v>
                  </c:pt>
                  <c:pt idx="19">
                    <c:v>Zone E</c:v>
                  </c:pt>
                  <c:pt idx="20">
                    <c:v>Zone A</c:v>
                  </c:pt>
                  <c:pt idx="21">
                    <c:v>Zone B</c:v>
                  </c:pt>
                  <c:pt idx="22">
                    <c:v>Zone C</c:v>
                  </c:pt>
                  <c:pt idx="23">
                    <c:v>Zone D</c:v>
                  </c:pt>
                  <c:pt idx="24">
                    <c:v>Zone E</c:v>
                  </c:pt>
                </c:lvl>
                <c:lvl>
                  <c:pt idx="0">
                    <c:v>Fire</c:v>
                  </c:pt>
                  <c:pt idx="5">
                    <c:v>Medical</c:v>
                  </c:pt>
                  <c:pt idx="10">
                    <c:v>Other</c:v>
                  </c:pt>
                  <c:pt idx="15">
                    <c:v>Traffic Accident</c:v>
                  </c:pt>
                  <c:pt idx="20">
                    <c:v>Utility Failure</c:v>
                  </c:pt>
                </c:lvl>
              </c:multiLvlStrCache>
            </c:multiLvlStrRef>
          </c:cat>
          <c:val>
            <c:numRef>
              <c:f>QUESTIONS!$B$90:$B$120</c:f>
              <c:numCache>
                <c:formatCode>[$-F400]h:mm:ss\ AM/PM</c:formatCode>
                <c:ptCount val="25"/>
                <c:pt idx="0">
                  <c:v>12.37142857142857</c:v>
                </c:pt>
                <c:pt idx="1">
                  <c:v>6.4666666666666659</c:v>
                </c:pt>
                <c:pt idx="2">
                  <c:v>5.6833333333333336</c:v>
                </c:pt>
                <c:pt idx="3">
                  <c:v>12.44</c:v>
                </c:pt>
                <c:pt idx="4">
                  <c:v>9.4599999999999991</c:v>
                </c:pt>
                <c:pt idx="5">
                  <c:v>17.18</c:v>
                </c:pt>
                <c:pt idx="6">
                  <c:v>12.833333333333332</c:v>
                </c:pt>
                <c:pt idx="7">
                  <c:v>16.712500000000002</c:v>
                </c:pt>
                <c:pt idx="8">
                  <c:v>10.233333333333333</c:v>
                </c:pt>
                <c:pt idx="9">
                  <c:v>12.727272727272727</c:v>
                </c:pt>
                <c:pt idx="10">
                  <c:v>13.754545454545456</c:v>
                </c:pt>
                <c:pt idx="11">
                  <c:v>10.8</c:v>
                </c:pt>
                <c:pt idx="12">
                  <c:v>13.53846153846154</c:v>
                </c:pt>
                <c:pt idx="13">
                  <c:v>10.045454545454545</c:v>
                </c:pt>
                <c:pt idx="14">
                  <c:v>6.9399999999999995</c:v>
                </c:pt>
                <c:pt idx="15">
                  <c:v>8.9692307692307693</c:v>
                </c:pt>
                <c:pt idx="16">
                  <c:v>17.383333333333336</c:v>
                </c:pt>
                <c:pt idx="17">
                  <c:v>11.888888888888889</c:v>
                </c:pt>
                <c:pt idx="18">
                  <c:v>18.619999999999997</c:v>
                </c:pt>
                <c:pt idx="19">
                  <c:v>14.533333333333331</c:v>
                </c:pt>
                <c:pt idx="20">
                  <c:v>5.9799999999999995</c:v>
                </c:pt>
                <c:pt idx="21">
                  <c:v>9.1923076923076934</c:v>
                </c:pt>
                <c:pt idx="22">
                  <c:v>10.373333333333333</c:v>
                </c:pt>
                <c:pt idx="23">
                  <c:v>12.17272727272727</c:v>
                </c:pt>
                <c:pt idx="24">
                  <c:v>10.477777777777778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8F-4233-811F-B4A4555DD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4298703"/>
        <c:axId val="2065853919"/>
      </c:barChart>
      <c:catAx>
        <c:axId val="1742987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5853919"/>
        <c:crosses val="autoZero"/>
        <c:auto val="1"/>
        <c:lblAlgn val="ctr"/>
        <c:lblOffset val="100"/>
        <c:noMultiLvlLbl val="0"/>
      </c:catAx>
      <c:valAx>
        <c:axId val="2065853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-F400]h:mm:ss\ AM/PM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2987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[smart_city_operations.xlsx]QUESTIONS!PivotTable3</c:name>
    <c:fmtId val="6"/>
  </c:pivotSource>
  <c:chart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4"/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4"/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4"/>
          <c:spPr>
            <a:gradFill rotWithShape="1">
              <a:gsLst>
                <a:gs pos="0">
                  <a:schemeClr val="accent3">
                    <a:tint val="50000"/>
                    <a:satMod val="300000"/>
                  </a:schemeClr>
                </a:gs>
                <a:gs pos="35000">
                  <a:schemeClr val="accent3">
                    <a:tint val="37000"/>
                    <a:satMod val="300000"/>
                  </a:schemeClr>
                </a:gs>
                <a:gs pos="100000">
                  <a:schemeClr val="accent3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circle"/>
          <c:size val="4"/>
          <c:spPr>
            <a:gradFill rotWithShape="1">
              <a:gsLst>
                <a:gs pos="0">
                  <a:schemeClr val="accent4">
                    <a:tint val="50000"/>
                    <a:satMod val="300000"/>
                  </a:schemeClr>
                </a:gs>
                <a:gs pos="35000">
                  <a:schemeClr val="accent4">
                    <a:tint val="37000"/>
                    <a:satMod val="300000"/>
                  </a:schemeClr>
                </a:gs>
                <a:gs pos="100000">
                  <a:schemeClr val="accent4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</a:gsLst>
            <a:lin ang="16200000" scaled="1"/>
          </a:gradFill>
          <a:ln w="9525" cap="flat" cmpd="sng" algn="ctr">
            <a:solidFill>
              <a:schemeClr val="accent1">
                <a:shade val="95000"/>
              </a:schemeClr>
            </a:solidFill>
            <a:rou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QUESTIONS!$B$63:$B$64</c:f>
              <c:strCache>
                <c:ptCount val="1"/>
                <c:pt idx="0">
                  <c:v>E-Waste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multiLvlStrRef>
              <c:f>QUESTIONS!$A$65:$A$85</c:f>
              <c:multiLvlStrCache>
                <c:ptCount val="15"/>
                <c:lvl>
                  <c:pt idx="0">
                    <c:v>Delayed</c:v>
                  </c:pt>
                  <c:pt idx="1">
                    <c:v>Missed</c:v>
                  </c:pt>
                  <c:pt idx="2">
                    <c:v>On Time</c:v>
                  </c:pt>
                  <c:pt idx="3">
                    <c:v>Delayed</c:v>
                  </c:pt>
                  <c:pt idx="4">
                    <c:v>Missed</c:v>
                  </c:pt>
                  <c:pt idx="5">
                    <c:v>On Time</c:v>
                  </c:pt>
                  <c:pt idx="6">
                    <c:v>Delayed</c:v>
                  </c:pt>
                  <c:pt idx="7">
                    <c:v>Missed</c:v>
                  </c:pt>
                  <c:pt idx="8">
                    <c:v>On Time</c:v>
                  </c:pt>
                  <c:pt idx="9">
                    <c:v>Delayed</c:v>
                  </c:pt>
                  <c:pt idx="10">
                    <c:v>Missed</c:v>
                  </c:pt>
                  <c:pt idx="11">
                    <c:v>On Time</c:v>
                  </c:pt>
                  <c:pt idx="12">
                    <c:v>Delayed</c:v>
                  </c:pt>
                  <c:pt idx="13">
                    <c:v>Missed</c:v>
                  </c:pt>
                  <c:pt idx="14">
                    <c:v>On Time</c:v>
                  </c:pt>
                </c:lvl>
                <c:lvl>
                  <c:pt idx="0">
                    <c:v>Zone A</c:v>
                  </c:pt>
                  <c:pt idx="3">
                    <c:v>Zone B</c:v>
                  </c:pt>
                  <c:pt idx="6">
                    <c:v>Zone C</c:v>
                  </c:pt>
                  <c:pt idx="9">
                    <c:v>Zone D</c:v>
                  </c:pt>
                  <c:pt idx="12">
                    <c:v>Zone E</c:v>
                  </c:pt>
                </c:lvl>
              </c:multiLvlStrCache>
            </c:multiLvlStrRef>
          </c:cat>
          <c:val>
            <c:numRef>
              <c:f>QUESTIONS!$B$65:$B$85</c:f>
              <c:numCache>
                <c:formatCode>General</c:formatCode>
                <c:ptCount val="15"/>
                <c:pt idx="0">
                  <c:v>31.25</c:v>
                </c:pt>
                <c:pt idx="1">
                  <c:v>7.64</c:v>
                </c:pt>
                <c:pt idx="2">
                  <c:v>186.35999999999996</c:v>
                </c:pt>
                <c:pt idx="3">
                  <c:v>59.52</c:v>
                </c:pt>
                <c:pt idx="4">
                  <c:v>8.56</c:v>
                </c:pt>
                <c:pt idx="5">
                  <c:v>179.33</c:v>
                </c:pt>
                <c:pt idx="6">
                  <c:v>93.32</c:v>
                </c:pt>
                <c:pt idx="8">
                  <c:v>133.41999999999999</c:v>
                </c:pt>
                <c:pt idx="9">
                  <c:v>64.010000000000005</c:v>
                </c:pt>
                <c:pt idx="11">
                  <c:v>152.32000000000002</c:v>
                </c:pt>
                <c:pt idx="12">
                  <c:v>39.950000000000003</c:v>
                </c:pt>
                <c:pt idx="13">
                  <c:v>1.75</c:v>
                </c:pt>
                <c:pt idx="14">
                  <c:v>219.57000000000002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6D-41EC-A826-DFAD22AC2BA4}"/>
            </c:ext>
          </c:extLst>
        </c:ser>
        <c:ser>
          <c:idx val="1"/>
          <c:order val="1"/>
          <c:tx>
            <c:strRef>
              <c:f>QUESTIONS!$C$63:$C$64</c:f>
              <c:strCache>
                <c:ptCount val="1"/>
                <c:pt idx="0">
                  <c:v>Hazardous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50000"/>
                    <a:satMod val="300000"/>
                  </a:schemeClr>
                </a:gs>
                <a:gs pos="35000">
                  <a:schemeClr val="accent2">
                    <a:tint val="37000"/>
                    <a:satMod val="300000"/>
                  </a:schemeClr>
                </a:gs>
                <a:gs pos="100000">
                  <a:schemeClr val="accent2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multiLvlStrRef>
              <c:f>QUESTIONS!$A$65:$A$85</c:f>
              <c:multiLvlStrCache>
                <c:ptCount val="15"/>
                <c:lvl>
                  <c:pt idx="0">
                    <c:v>Delayed</c:v>
                  </c:pt>
                  <c:pt idx="1">
                    <c:v>Missed</c:v>
                  </c:pt>
                  <c:pt idx="2">
                    <c:v>On Time</c:v>
                  </c:pt>
                  <c:pt idx="3">
                    <c:v>Delayed</c:v>
                  </c:pt>
                  <c:pt idx="4">
                    <c:v>Missed</c:v>
                  </c:pt>
                  <c:pt idx="5">
                    <c:v>On Time</c:v>
                  </c:pt>
                  <c:pt idx="6">
                    <c:v>Delayed</c:v>
                  </c:pt>
                  <c:pt idx="7">
                    <c:v>Missed</c:v>
                  </c:pt>
                  <c:pt idx="8">
                    <c:v>On Time</c:v>
                  </c:pt>
                  <c:pt idx="9">
                    <c:v>Delayed</c:v>
                  </c:pt>
                  <c:pt idx="10">
                    <c:v>Missed</c:v>
                  </c:pt>
                  <c:pt idx="11">
                    <c:v>On Time</c:v>
                  </c:pt>
                  <c:pt idx="12">
                    <c:v>Delayed</c:v>
                  </c:pt>
                  <c:pt idx="13">
                    <c:v>Missed</c:v>
                  </c:pt>
                  <c:pt idx="14">
                    <c:v>On Time</c:v>
                  </c:pt>
                </c:lvl>
                <c:lvl>
                  <c:pt idx="0">
                    <c:v>Zone A</c:v>
                  </c:pt>
                  <c:pt idx="3">
                    <c:v>Zone B</c:v>
                  </c:pt>
                  <c:pt idx="6">
                    <c:v>Zone C</c:v>
                  </c:pt>
                  <c:pt idx="9">
                    <c:v>Zone D</c:v>
                  </c:pt>
                  <c:pt idx="12">
                    <c:v>Zone E</c:v>
                  </c:pt>
                </c:lvl>
              </c:multiLvlStrCache>
            </c:multiLvlStrRef>
          </c:cat>
          <c:val>
            <c:numRef>
              <c:f>QUESTIONS!$C$65:$C$85</c:f>
              <c:numCache>
                <c:formatCode>General</c:formatCode>
                <c:ptCount val="15"/>
                <c:pt idx="0">
                  <c:v>69.02</c:v>
                </c:pt>
                <c:pt idx="1">
                  <c:v>5.0999999999999996</c:v>
                </c:pt>
                <c:pt idx="2">
                  <c:v>214.56</c:v>
                </c:pt>
                <c:pt idx="3">
                  <c:v>1.1599999999999999</c:v>
                </c:pt>
                <c:pt idx="5">
                  <c:v>276.44999999999987</c:v>
                </c:pt>
                <c:pt idx="7">
                  <c:v>18.7</c:v>
                </c:pt>
                <c:pt idx="8">
                  <c:v>171.01999999999998</c:v>
                </c:pt>
                <c:pt idx="9">
                  <c:v>18.61</c:v>
                </c:pt>
                <c:pt idx="11">
                  <c:v>192.50000000000006</c:v>
                </c:pt>
                <c:pt idx="12">
                  <c:v>20.450000000000003</c:v>
                </c:pt>
                <c:pt idx="13">
                  <c:v>4.29</c:v>
                </c:pt>
                <c:pt idx="14">
                  <c:v>246.28000000000006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6D-41EC-A826-DFAD22AC2BA4}"/>
            </c:ext>
          </c:extLst>
        </c:ser>
        <c:ser>
          <c:idx val="2"/>
          <c:order val="2"/>
          <c:tx>
            <c:strRef>
              <c:f>QUESTIONS!$D$63:$D$64</c:f>
              <c:strCache>
                <c:ptCount val="1"/>
                <c:pt idx="0">
                  <c:v>Organic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50000"/>
                    <a:satMod val="300000"/>
                  </a:schemeClr>
                </a:gs>
                <a:gs pos="35000">
                  <a:schemeClr val="accent3">
                    <a:tint val="37000"/>
                    <a:satMod val="300000"/>
                  </a:schemeClr>
                </a:gs>
                <a:gs pos="100000">
                  <a:schemeClr val="accent3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multiLvlStrRef>
              <c:f>QUESTIONS!$A$65:$A$85</c:f>
              <c:multiLvlStrCache>
                <c:ptCount val="15"/>
                <c:lvl>
                  <c:pt idx="0">
                    <c:v>Delayed</c:v>
                  </c:pt>
                  <c:pt idx="1">
                    <c:v>Missed</c:v>
                  </c:pt>
                  <c:pt idx="2">
                    <c:v>On Time</c:v>
                  </c:pt>
                  <c:pt idx="3">
                    <c:v>Delayed</c:v>
                  </c:pt>
                  <c:pt idx="4">
                    <c:v>Missed</c:v>
                  </c:pt>
                  <c:pt idx="5">
                    <c:v>On Time</c:v>
                  </c:pt>
                  <c:pt idx="6">
                    <c:v>Delayed</c:v>
                  </c:pt>
                  <c:pt idx="7">
                    <c:v>Missed</c:v>
                  </c:pt>
                  <c:pt idx="8">
                    <c:v>On Time</c:v>
                  </c:pt>
                  <c:pt idx="9">
                    <c:v>Delayed</c:v>
                  </c:pt>
                  <c:pt idx="10">
                    <c:v>Missed</c:v>
                  </c:pt>
                  <c:pt idx="11">
                    <c:v>On Time</c:v>
                  </c:pt>
                  <c:pt idx="12">
                    <c:v>Delayed</c:v>
                  </c:pt>
                  <c:pt idx="13">
                    <c:v>Missed</c:v>
                  </c:pt>
                  <c:pt idx="14">
                    <c:v>On Time</c:v>
                  </c:pt>
                </c:lvl>
                <c:lvl>
                  <c:pt idx="0">
                    <c:v>Zone A</c:v>
                  </c:pt>
                  <c:pt idx="3">
                    <c:v>Zone B</c:v>
                  </c:pt>
                  <c:pt idx="6">
                    <c:v>Zone C</c:v>
                  </c:pt>
                  <c:pt idx="9">
                    <c:v>Zone D</c:v>
                  </c:pt>
                  <c:pt idx="12">
                    <c:v>Zone E</c:v>
                  </c:pt>
                </c:lvl>
              </c:multiLvlStrCache>
            </c:multiLvlStrRef>
          </c:cat>
          <c:val>
            <c:numRef>
              <c:f>QUESTIONS!$D$65:$D$85</c:f>
              <c:numCache>
                <c:formatCode>General</c:formatCode>
                <c:ptCount val="15"/>
                <c:pt idx="0">
                  <c:v>49.53</c:v>
                </c:pt>
                <c:pt idx="2">
                  <c:v>196.66</c:v>
                </c:pt>
                <c:pt idx="3">
                  <c:v>64.150000000000006</c:v>
                </c:pt>
                <c:pt idx="4">
                  <c:v>14.13</c:v>
                </c:pt>
                <c:pt idx="5">
                  <c:v>229.95</c:v>
                </c:pt>
                <c:pt idx="6">
                  <c:v>41.640000000000008</c:v>
                </c:pt>
                <c:pt idx="8">
                  <c:v>123.82999999999997</c:v>
                </c:pt>
                <c:pt idx="9">
                  <c:v>78</c:v>
                </c:pt>
                <c:pt idx="10">
                  <c:v>2.66</c:v>
                </c:pt>
                <c:pt idx="11">
                  <c:v>170.88999999999996</c:v>
                </c:pt>
                <c:pt idx="12">
                  <c:v>53.940000000000005</c:v>
                </c:pt>
                <c:pt idx="13">
                  <c:v>27.39</c:v>
                </c:pt>
                <c:pt idx="14">
                  <c:v>111.75999999999999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6D-41EC-A826-DFAD22AC2BA4}"/>
            </c:ext>
          </c:extLst>
        </c:ser>
        <c:ser>
          <c:idx val="3"/>
          <c:order val="3"/>
          <c:tx>
            <c:strRef>
              <c:f>QUESTIONS!$E$63:$E$64</c:f>
              <c:strCache>
                <c:ptCount val="1"/>
                <c:pt idx="0">
                  <c:v>Recyclable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tint val="50000"/>
                    <a:satMod val="300000"/>
                  </a:schemeClr>
                </a:gs>
                <a:gs pos="35000">
                  <a:schemeClr val="accent4">
                    <a:tint val="37000"/>
                    <a:satMod val="300000"/>
                  </a:schemeClr>
                </a:gs>
                <a:gs pos="100000">
                  <a:schemeClr val="accent4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multiLvlStrRef>
              <c:f>QUESTIONS!$A$65:$A$85</c:f>
              <c:multiLvlStrCache>
                <c:ptCount val="15"/>
                <c:lvl>
                  <c:pt idx="0">
                    <c:v>Delayed</c:v>
                  </c:pt>
                  <c:pt idx="1">
                    <c:v>Missed</c:v>
                  </c:pt>
                  <c:pt idx="2">
                    <c:v>On Time</c:v>
                  </c:pt>
                  <c:pt idx="3">
                    <c:v>Delayed</c:v>
                  </c:pt>
                  <c:pt idx="4">
                    <c:v>Missed</c:v>
                  </c:pt>
                  <c:pt idx="5">
                    <c:v>On Time</c:v>
                  </c:pt>
                  <c:pt idx="6">
                    <c:v>Delayed</c:v>
                  </c:pt>
                  <c:pt idx="7">
                    <c:v>Missed</c:v>
                  </c:pt>
                  <c:pt idx="8">
                    <c:v>On Time</c:v>
                  </c:pt>
                  <c:pt idx="9">
                    <c:v>Delayed</c:v>
                  </c:pt>
                  <c:pt idx="10">
                    <c:v>Missed</c:v>
                  </c:pt>
                  <c:pt idx="11">
                    <c:v>On Time</c:v>
                  </c:pt>
                  <c:pt idx="12">
                    <c:v>Delayed</c:v>
                  </c:pt>
                  <c:pt idx="13">
                    <c:v>Missed</c:v>
                  </c:pt>
                  <c:pt idx="14">
                    <c:v>On Time</c:v>
                  </c:pt>
                </c:lvl>
                <c:lvl>
                  <c:pt idx="0">
                    <c:v>Zone A</c:v>
                  </c:pt>
                  <c:pt idx="3">
                    <c:v>Zone B</c:v>
                  </c:pt>
                  <c:pt idx="6">
                    <c:v>Zone C</c:v>
                  </c:pt>
                  <c:pt idx="9">
                    <c:v>Zone D</c:v>
                  </c:pt>
                  <c:pt idx="12">
                    <c:v>Zone E</c:v>
                  </c:pt>
                </c:lvl>
              </c:multiLvlStrCache>
            </c:multiLvlStrRef>
          </c:cat>
          <c:val>
            <c:numRef>
              <c:f>QUESTIONS!$E$65:$E$85</c:f>
              <c:numCache>
                <c:formatCode>General</c:formatCode>
                <c:ptCount val="15"/>
                <c:pt idx="0">
                  <c:v>95.02000000000001</c:v>
                </c:pt>
                <c:pt idx="2">
                  <c:v>199.2</c:v>
                </c:pt>
                <c:pt idx="3">
                  <c:v>68.600000000000009</c:v>
                </c:pt>
                <c:pt idx="5">
                  <c:v>167.26</c:v>
                </c:pt>
                <c:pt idx="6">
                  <c:v>51.27</c:v>
                </c:pt>
                <c:pt idx="7">
                  <c:v>7.18</c:v>
                </c:pt>
                <c:pt idx="8">
                  <c:v>236.61</c:v>
                </c:pt>
                <c:pt idx="9">
                  <c:v>21.9</c:v>
                </c:pt>
                <c:pt idx="10">
                  <c:v>8.5500000000000007</c:v>
                </c:pt>
                <c:pt idx="11">
                  <c:v>187.48</c:v>
                </c:pt>
                <c:pt idx="12">
                  <c:v>81.149999999999991</c:v>
                </c:pt>
                <c:pt idx="13">
                  <c:v>19.009999999999998</c:v>
                </c:pt>
                <c:pt idx="14">
                  <c:v>141.41999999999999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6D-41EC-A826-DFAD22AC2B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4318191"/>
        <c:axId val="2007488191"/>
      </c:barChart>
      <c:catAx>
        <c:axId val="174318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7488191"/>
        <c:crosses val="autoZero"/>
        <c:auto val="1"/>
        <c:lblAlgn val="ctr"/>
        <c:lblOffset val="100"/>
        <c:noMultiLvlLbl val="0"/>
      </c:catAx>
      <c:valAx>
        <c:axId val="20074881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318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6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266AC-EF84-4323-87A3-4FBD66F84641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97267-8D9A-46F6-A74D-FE7D2FBE9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57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A4C0860-B528-9193-368C-09BE9ADCDBC9}"/>
              </a:ext>
            </a:extLst>
          </p:cNvPr>
          <p:cNvSpPr/>
          <p:nvPr/>
        </p:nvSpPr>
        <p:spPr>
          <a:xfrm>
            <a:off x="0" y="0"/>
            <a:ext cx="8110088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8076621" y="0"/>
            <a:ext cx="4144975" cy="6858000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9120" y="1234440"/>
            <a:ext cx="61264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Smart City
Operations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dirty="0">
                <a:solidFill>
                  <a:srgbClr val="D7E6EF"/>
                </a:solidFill>
                <a:latin typeface="Aptos"/>
              </a:rPr>
              <a:t>Advanced Excel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227832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E0D8"/>
                </a:solidFill>
                <a:latin typeface="Aptos"/>
              </a:rPr>
              <a:t>Transport • Energy • Waste • Emergency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37160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68,148
passengers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92608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37,128.5 MWh
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4526280"/>
            <a:ext cx="2468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228
incidents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5497830"/>
            <a:ext cx="388620" cy="582930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18804" y="5870905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74252" y="5870905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18804" y="6010808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74252" y="6010808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99651" y="5148072"/>
            <a:ext cx="481888" cy="932688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77375" y="5521147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332823" y="5521147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77375" y="5661050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32823" y="5661050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77375" y="5800953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32823" y="5800953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51492" y="5598871"/>
            <a:ext cx="326440" cy="481888"/>
          </a:xfrm>
          <a:prstGeom prst="rect">
            <a:avLst/>
          </a:prstGeom>
          <a:solidFill>
            <a:srgbClr val="4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729216" y="5971946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884664" y="5971946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047884" y="4914900"/>
            <a:ext cx="544068" cy="1165860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25608" y="5287975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281056" y="5287975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125608" y="5427878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81056" y="5427878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125608" y="5567781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281056" y="5567781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661904" y="5342382"/>
            <a:ext cx="404164" cy="738378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739628" y="5715457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895076" y="5715457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739628" y="5855360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895076" y="5855360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739628" y="5995263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895076" y="5995263"/>
            <a:ext cx="62179" cy="699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602217" y="6080760"/>
            <a:ext cx="2159561" cy="46634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279502" y="5647990"/>
            <a:ext cx="764804" cy="284927"/>
          </a:xfrm>
          <a:prstGeom prst="round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902574" y="5532120"/>
            <a:ext cx="314919" cy="412394"/>
          </a:xfrm>
          <a:prstGeom prst="round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977554" y="5607100"/>
            <a:ext cx="149961" cy="104973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1194999" y="5802050"/>
            <a:ext cx="89976" cy="74980"/>
          </a:xfrm>
          <a:prstGeom prst="round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452689" y="5862035"/>
            <a:ext cx="164957" cy="164957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497677" y="5907024"/>
            <a:ext cx="74980" cy="749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977554" y="5862035"/>
            <a:ext cx="164957" cy="164957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1022543" y="5907024"/>
            <a:ext cx="74980" cy="749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Find(chosic.com)">
            <a:hlinkClick r:id="" action="ppaction://media"/>
            <a:extLst>
              <a:ext uri="{FF2B5EF4-FFF2-40B4-BE49-F238E27FC236}">
                <a16:creationId xmlns:a16="http://schemas.microsoft.com/office/drawing/2014/main" id="{34E228F5-E6F4-5D4D-11E3-345DFE3B5C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50040" y="-203200"/>
            <a:ext cx="406400" cy="406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 dir="u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73152"/>
            <a:ext cx="11914632" cy="73152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3D58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85216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C87"/>
                </a:solidFill>
                <a:latin typeface="Aptos"/>
              </a:rPr>
              <a:t>Purpose, scope and operational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C87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3D58"/>
                </a:solidFill>
                <a:latin typeface="Aptos"/>
              </a:rPr>
              <a:t>Smart City Operations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5303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942"/>
                </a:solidFill>
                <a:latin typeface="Aptos"/>
              </a:rPr>
              <a:t>A simulated control center that combines four critical city domains into one interactive Excel-based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789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3D58"/>
                </a:solidFill>
                <a:latin typeface="Aptos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44752"/>
            <a:ext cx="5074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2A3942"/>
                </a:solidFill>
                <a:latin typeface="Aptos"/>
              </a:defRPr>
            </a:pPr>
            <a:r>
              <a:t>Demonstrate XLOOKUP, INDEX-MATCH and conditional aggregation</a:t>
            </a:r>
          </a:p>
          <a:p>
            <a:pPr>
              <a:spcAft>
                <a:spcPts val="600"/>
              </a:spcAft>
              <a:defRPr sz="1050">
                <a:solidFill>
                  <a:srgbClr val="2A3942"/>
                </a:solidFill>
                <a:latin typeface="Aptos"/>
              </a:defRPr>
            </a:pPr>
            <a:r>
              <a:t>Build an interactive multi-domain operational dashboard</a:t>
            </a:r>
          </a:p>
          <a:p>
            <a:pPr>
              <a:spcAft>
                <a:spcPts val="600"/>
              </a:spcAft>
              <a:defRPr sz="1050">
                <a:solidFill>
                  <a:srgbClr val="2A3942"/>
                </a:solidFill>
                <a:latin typeface="Aptos"/>
              </a:defRPr>
            </a:pPr>
            <a:r>
              <a:t>Use filtering, PivotTables and visual status indicators</a:t>
            </a:r>
          </a:p>
          <a:p>
            <a:pPr>
              <a:spcAft>
                <a:spcPts val="600"/>
              </a:spcAft>
              <a:defRPr sz="1050">
                <a:solidFill>
                  <a:srgbClr val="2A3942"/>
                </a:solidFill>
                <a:latin typeface="Aptos"/>
              </a:defRPr>
            </a:pPr>
            <a:r>
              <a:t>Turn raw city data into decisions for transport, energy, waste and emergency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0779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93D58"/>
                </a:solidFill>
                <a:latin typeface="Aptos"/>
              </a:rPr>
              <a:t>Operations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310128"/>
            <a:ext cx="2514600" cy="10515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310128"/>
            <a:ext cx="54864" cy="1051560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3429000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730752"/>
            <a:ext cx="2194560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Passengers, delays and route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649736"/>
            <a:ext cx="391728" cy="145938"/>
          </a:xfrm>
          <a:prstGeom prst="round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623596" y="3584448"/>
            <a:ext cx="161300" cy="211226"/>
          </a:xfrm>
          <a:prstGeom prst="round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62001" y="3622852"/>
            <a:ext cx="76809" cy="53766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773375" y="3722705"/>
            <a:ext cx="46085" cy="38404"/>
          </a:xfrm>
          <a:prstGeom prst="round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393167" y="3753429"/>
            <a:ext cx="84490" cy="84490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416210" y="3776472"/>
            <a:ext cx="38404" cy="384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662001" y="3753429"/>
            <a:ext cx="84490" cy="84490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685044" y="3776472"/>
            <a:ext cx="38404" cy="384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127248" y="3310128"/>
            <a:ext cx="2514600" cy="10515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127248" y="3310128"/>
            <a:ext cx="54864" cy="1051560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91840" y="3429000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Energy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730752"/>
            <a:ext cx="2194560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Consumption, outages and grid load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257800" y="3566160"/>
            <a:ext cx="191109" cy="284927"/>
          </a:xfrm>
          <a:prstGeom prst="downArrow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11480" y="4572000"/>
            <a:ext cx="2514600" cy="10515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" y="4572000"/>
            <a:ext cx="54864" cy="1051560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" y="4690872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Waste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4992624"/>
            <a:ext cx="2194560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Waste volume and recycling rate</a:t>
            </a:r>
          </a:p>
        </p:txBody>
      </p:sp>
      <p:sp>
        <p:nvSpPr>
          <p:cNvPr id="33" name="Oval 32"/>
          <p:cNvSpPr/>
          <p:nvPr/>
        </p:nvSpPr>
        <p:spPr>
          <a:xfrm>
            <a:off x="2331720" y="4800600"/>
            <a:ext cx="104241" cy="173736"/>
          </a:xfrm>
          <a:prstGeom prst="ellipse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408163" y="4800600"/>
            <a:ext cx="104241" cy="173736"/>
          </a:xfrm>
          <a:prstGeom prst="ellipse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390790" y="4925689"/>
            <a:ext cx="20848" cy="132039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127248" y="4572000"/>
            <a:ext cx="2514600" cy="10515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127248" y="4572000"/>
            <a:ext cx="54864" cy="1051560"/>
          </a:xfrm>
          <a:prstGeom prst="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0" y="4690872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Emergency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992624"/>
            <a:ext cx="2194560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Incident volume and response 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46827" y="4905207"/>
            <a:ext cx="250179" cy="104241"/>
          </a:xfrm>
          <a:prstGeom prst="round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288523" y="4832238"/>
            <a:ext cx="166786" cy="79918"/>
          </a:xfrm>
          <a:prstGeom prst="round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319796" y="4773168"/>
            <a:ext cx="97292" cy="62544"/>
          </a:xfrm>
          <a:prstGeom prst="round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858000" y="5417820"/>
            <a:ext cx="320040" cy="480059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922008" y="5725058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050024" y="5725058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922008" y="5840272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050024" y="5840272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235647" y="5129784"/>
            <a:ext cx="396849" cy="768096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299655" y="5437022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427671" y="5437022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299655" y="5552236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427671" y="5552236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299655" y="5667451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427671" y="5667451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690104" y="5501030"/>
            <a:ext cx="268833" cy="396849"/>
          </a:xfrm>
          <a:prstGeom prst="rect">
            <a:avLst/>
          </a:prstGeom>
          <a:solidFill>
            <a:srgbClr val="4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54112" y="5808268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882128" y="5808268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016544" y="4937760"/>
            <a:ext cx="448055" cy="960119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080552" y="5244998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208568" y="5244998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080552" y="5360212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208568" y="5360212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080552" y="5475427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208568" y="5475427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8522208" y="5289804"/>
            <a:ext cx="332841" cy="608075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586216" y="5597042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714232" y="5597042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586216" y="5712256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714232" y="5712256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586216" y="5827471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714232" y="5827471"/>
            <a:ext cx="51206" cy="57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825996" y="5897880"/>
            <a:ext cx="1470263" cy="38404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372600" y="4892040"/>
            <a:ext cx="1097280" cy="453542"/>
          </a:xfrm>
          <a:prstGeom prst="round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9460382" y="4979822"/>
            <a:ext cx="768096" cy="146304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489643" y="5001768"/>
            <a:ext cx="117043" cy="95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665208" y="5001768"/>
            <a:ext cx="117043" cy="95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840772" y="5001768"/>
            <a:ext cx="117043" cy="95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0016337" y="5001768"/>
            <a:ext cx="117043" cy="95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555480" y="5243169"/>
            <a:ext cx="146304" cy="146304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0162641" y="5243169"/>
            <a:ext cx="146304" cy="146304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3000">
        <p14:reveal/>
      </p:transition>
    </mc:Choice>
    <mc:Fallback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80395-7081-F90C-08AE-15BA741E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7C3336-53F0-2FDF-2DCC-2531CF019AC7}"/>
              </a:ext>
            </a:extLst>
          </p:cNvPr>
          <p:cNvSpPr/>
          <p:nvPr/>
        </p:nvSpPr>
        <p:spPr>
          <a:xfrm>
            <a:off x="137160" y="73152"/>
            <a:ext cx="11914632" cy="73152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F7F80-69E9-E2AC-9715-5DABC4998C46}"/>
              </a:ext>
            </a:extLst>
          </p:cNvPr>
          <p:cNvSpPr txBox="1"/>
          <p:nvPr/>
        </p:nvSpPr>
        <p:spPr>
          <a:xfrm>
            <a:off x="320040" y="201168"/>
            <a:ext cx="91440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2100" b="1" dirty="0">
                <a:solidFill>
                  <a:srgbClr val="193D58"/>
                </a:solidFill>
                <a:latin typeface="Aptos"/>
              </a:rPr>
              <a:t>Graphical  Analysis</a:t>
            </a:r>
            <a:endParaRPr sz="2100" b="1" dirty="0">
              <a:solidFill>
                <a:srgbClr val="193D58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73ABF-6E87-EDA3-3636-6B10647955F7}"/>
              </a:ext>
            </a:extLst>
          </p:cNvPr>
          <p:cNvSpPr txBox="1"/>
          <p:nvPr/>
        </p:nvSpPr>
        <p:spPr>
          <a:xfrm>
            <a:off x="320040" y="585216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dirty="0">
                <a:solidFill>
                  <a:srgbClr val="697C87"/>
                </a:solidFill>
                <a:latin typeface="Aptos"/>
              </a:rPr>
              <a:t>Purpose, scope and operational goals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4996A-F223-6C04-6BE4-32969873771C}"/>
              </a:ext>
            </a:extLst>
          </p:cNvPr>
          <p:cNvSpPr txBox="1"/>
          <p:nvPr/>
        </p:nvSpPr>
        <p:spPr>
          <a:xfrm>
            <a:off x="320040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C87"/>
                </a:solidFill>
                <a:latin typeface="Aptos"/>
              </a:rPr>
              <a:t>Smart City Operations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8D4112-A79D-7662-5F0A-7AADD83F36D3}"/>
              </a:ext>
            </a:extLst>
          </p:cNvPr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C87"/>
                </a:solidFill>
                <a:latin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82AD0C-4BA2-A569-0CD4-A867640E9F4B}"/>
              </a:ext>
            </a:extLst>
          </p:cNvPr>
          <p:cNvSpPr/>
          <p:nvPr/>
        </p:nvSpPr>
        <p:spPr>
          <a:xfrm>
            <a:off x="411480" y="2248870"/>
            <a:ext cx="54864" cy="1051560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CDDF789-2489-E624-5C69-FB9DFB4EEF06}"/>
              </a:ext>
            </a:extLst>
          </p:cNvPr>
          <p:cNvGrpSpPr/>
          <p:nvPr/>
        </p:nvGrpSpPr>
        <p:grpSpPr>
          <a:xfrm>
            <a:off x="1431007" y="3710223"/>
            <a:ext cx="487740" cy="253471"/>
            <a:chOff x="2331720" y="3584448"/>
            <a:chExt cx="487740" cy="253471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BB2162D-7CCF-7F63-7991-39E806B9C60B}"/>
                </a:ext>
              </a:extLst>
            </p:cNvPr>
            <p:cNvSpPr/>
            <p:nvPr/>
          </p:nvSpPr>
          <p:spPr>
            <a:xfrm>
              <a:off x="2331720" y="3649736"/>
              <a:ext cx="391728" cy="145938"/>
            </a:xfrm>
            <a:prstGeom prst="roundRect">
              <a:avLst/>
            </a:prstGeom>
            <a:solidFill>
              <a:srgbClr val="2D69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8AD6F846-9990-B813-9841-6C72A020E074}"/>
                </a:ext>
              </a:extLst>
            </p:cNvPr>
            <p:cNvSpPr/>
            <p:nvPr/>
          </p:nvSpPr>
          <p:spPr>
            <a:xfrm>
              <a:off x="2623596" y="3584448"/>
              <a:ext cx="161300" cy="211226"/>
            </a:xfrm>
            <a:prstGeom prst="roundRect">
              <a:avLst/>
            </a:prstGeom>
            <a:solidFill>
              <a:srgbClr val="2D69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8D319F76-EE53-E43B-A2BB-EADC1C0F60DE}"/>
                </a:ext>
              </a:extLst>
            </p:cNvPr>
            <p:cNvSpPr/>
            <p:nvPr/>
          </p:nvSpPr>
          <p:spPr>
            <a:xfrm>
              <a:off x="2662001" y="3622852"/>
              <a:ext cx="76809" cy="53766"/>
            </a:xfrm>
            <a:prstGeom prst="roundRect">
              <a:avLst/>
            </a:prstGeom>
            <a:solidFill>
              <a:srgbClr val="ED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9D441F56-5E8A-B0E5-784E-7AB0E30B9934}"/>
                </a:ext>
              </a:extLst>
            </p:cNvPr>
            <p:cNvSpPr/>
            <p:nvPr/>
          </p:nvSpPr>
          <p:spPr>
            <a:xfrm>
              <a:off x="2773375" y="3722705"/>
              <a:ext cx="46085" cy="38404"/>
            </a:xfrm>
            <a:prstGeom prst="round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B764DC5-A469-3AE1-56CF-964913B9B5E2}"/>
                </a:ext>
              </a:extLst>
            </p:cNvPr>
            <p:cNvSpPr/>
            <p:nvPr/>
          </p:nvSpPr>
          <p:spPr>
            <a:xfrm>
              <a:off x="2393167" y="3753429"/>
              <a:ext cx="84490" cy="84490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CD65280-8CEF-908D-81D4-F256C4794988}"/>
                </a:ext>
              </a:extLst>
            </p:cNvPr>
            <p:cNvSpPr/>
            <p:nvPr/>
          </p:nvSpPr>
          <p:spPr>
            <a:xfrm>
              <a:off x="2416210" y="3776472"/>
              <a:ext cx="38404" cy="3840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4591040-B8FA-BE1E-1C0E-986910C60BB7}"/>
                </a:ext>
              </a:extLst>
            </p:cNvPr>
            <p:cNvSpPr/>
            <p:nvPr/>
          </p:nvSpPr>
          <p:spPr>
            <a:xfrm>
              <a:off x="2662001" y="3753429"/>
              <a:ext cx="84490" cy="84490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32A41C-D64E-2E19-0BEF-E348BC9D3152}"/>
                </a:ext>
              </a:extLst>
            </p:cNvPr>
            <p:cNvSpPr/>
            <p:nvPr/>
          </p:nvSpPr>
          <p:spPr>
            <a:xfrm>
              <a:off x="2685044" y="3776472"/>
              <a:ext cx="38404" cy="3840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0A00DD8E-71B8-42E5-B7D5-59BD42835B98}"/>
              </a:ext>
            </a:extLst>
          </p:cNvPr>
          <p:cNvSpPr/>
          <p:nvPr/>
        </p:nvSpPr>
        <p:spPr>
          <a:xfrm>
            <a:off x="411480" y="901141"/>
            <a:ext cx="54864" cy="1051560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09DB7A3F-DAF1-EBE3-D36F-4974E0D36833}"/>
              </a:ext>
            </a:extLst>
          </p:cNvPr>
          <p:cNvSpPr/>
          <p:nvPr/>
        </p:nvSpPr>
        <p:spPr>
          <a:xfrm>
            <a:off x="11956237" y="300852"/>
            <a:ext cx="191109" cy="284927"/>
          </a:xfrm>
          <a:prstGeom prst="downArrow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079AD9-8B54-1584-6BD5-704BF9855176}"/>
              </a:ext>
            </a:extLst>
          </p:cNvPr>
          <p:cNvSpPr/>
          <p:nvPr/>
        </p:nvSpPr>
        <p:spPr>
          <a:xfrm>
            <a:off x="411480" y="3474720"/>
            <a:ext cx="54864" cy="1051560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3729B4-1C3B-EBAF-9D61-5FA9DFC35016}"/>
              </a:ext>
            </a:extLst>
          </p:cNvPr>
          <p:cNvSpPr/>
          <p:nvPr/>
        </p:nvSpPr>
        <p:spPr>
          <a:xfrm>
            <a:off x="415477" y="4739909"/>
            <a:ext cx="54864" cy="1051560"/>
          </a:xfrm>
          <a:prstGeom prst="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3717FD9-A1A1-D814-436C-0471A32E71FF}"/>
              </a:ext>
            </a:extLst>
          </p:cNvPr>
          <p:cNvGrpSpPr/>
          <p:nvPr/>
        </p:nvGrpSpPr>
        <p:grpSpPr>
          <a:xfrm>
            <a:off x="171887" y="5752580"/>
            <a:ext cx="2029053" cy="998524"/>
            <a:chOff x="6825996" y="4937760"/>
            <a:chExt cx="2029053" cy="998524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BC7C65-4B4C-68EE-0F5F-F9B9FC377180}"/>
                </a:ext>
              </a:extLst>
            </p:cNvPr>
            <p:cNvSpPr/>
            <p:nvPr/>
          </p:nvSpPr>
          <p:spPr>
            <a:xfrm>
              <a:off x="6858000" y="5417820"/>
              <a:ext cx="320040" cy="480059"/>
            </a:xfrm>
            <a:prstGeom prst="rect">
              <a:avLst/>
            </a:prstGeom>
            <a:solidFill>
              <a:srgbClr val="2D69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611725-B005-5083-1516-E9147BD308C6}"/>
                </a:ext>
              </a:extLst>
            </p:cNvPr>
            <p:cNvSpPr/>
            <p:nvPr/>
          </p:nvSpPr>
          <p:spPr>
            <a:xfrm>
              <a:off x="6922008" y="572505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F5C37A2-FE5C-B8D7-E84F-E99329987B73}"/>
                </a:ext>
              </a:extLst>
            </p:cNvPr>
            <p:cNvSpPr/>
            <p:nvPr/>
          </p:nvSpPr>
          <p:spPr>
            <a:xfrm>
              <a:off x="7050024" y="572505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348E4EA-844A-57BB-C9EE-33A76FCEC275}"/>
                </a:ext>
              </a:extLst>
            </p:cNvPr>
            <p:cNvSpPr/>
            <p:nvPr/>
          </p:nvSpPr>
          <p:spPr>
            <a:xfrm>
              <a:off x="6922008" y="584027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09546F6-9E66-A2E5-9388-B914BDF18CAB}"/>
                </a:ext>
              </a:extLst>
            </p:cNvPr>
            <p:cNvSpPr/>
            <p:nvPr/>
          </p:nvSpPr>
          <p:spPr>
            <a:xfrm>
              <a:off x="7050024" y="584027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E8F44DB-56F0-4CE0-7B05-DC9079CE502E}"/>
                </a:ext>
              </a:extLst>
            </p:cNvPr>
            <p:cNvSpPr/>
            <p:nvPr/>
          </p:nvSpPr>
          <p:spPr>
            <a:xfrm>
              <a:off x="7235647" y="5129784"/>
              <a:ext cx="396849" cy="768096"/>
            </a:xfrm>
            <a:prstGeom prst="rect">
              <a:avLst/>
            </a:prstGeom>
            <a:solidFill>
              <a:srgbClr val="309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F221C01-1B7A-296F-F2C7-45AFBAC07579}"/>
                </a:ext>
              </a:extLst>
            </p:cNvPr>
            <p:cNvSpPr/>
            <p:nvPr/>
          </p:nvSpPr>
          <p:spPr>
            <a:xfrm>
              <a:off x="7299655" y="543702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824B683-8238-EE58-D3A5-3244FFB54B4C}"/>
                </a:ext>
              </a:extLst>
            </p:cNvPr>
            <p:cNvSpPr/>
            <p:nvPr/>
          </p:nvSpPr>
          <p:spPr>
            <a:xfrm>
              <a:off x="7427671" y="543702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422CCB6-82A8-E00E-5FF4-BE86F7719A9C}"/>
                </a:ext>
              </a:extLst>
            </p:cNvPr>
            <p:cNvSpPr/>
            <p:nvPr/>
          </p:nvSpPr>
          <p:spPr>
            <a:xfrm>
              <a:off x="7299655" y="555223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33F7FCA-140A-DF8A-26BE-F4B5F4813403}"/>
                </a:ext>
              </a:extLst>
            </p:cNvPr>
            <p:cNvSpPr/>
            <p:nvPr/>
          </p:nvSpPr>
          <p:spPr>
            <a:xfrm>
              <a:off x="7427671" y="555223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C21D139-388B-9099-1606-BA85D73229EB}"/>
                </a:ext>
              </a:extLst>
            </p:cNvPr>
            <p:cNvSpPr/>
            <p:nvPr/>
          </p:nvSpPr>
          <p:spPr>
            <a:xfrm>
              <a:off x="7299655" y="566745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24DD1D3-F427-A1F9-9A67-F3F5C8F15ABA}"/>
                </a:ext>
              </a:extLst>
            </p:cNvPr>
            <p:cNvSpPr/>
            <p:nvPr/>
          </p:nvSpPr>
          <p:spPr>
            <a:xfrm>
              <a:off x="7427671" y="566745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18610E8-9FE7-8667-B6BE-BAD0CBE55969}"/>
                </a:ext>
              </a:extLst>
            </p:cNvPr>
            <p:cNvSpPr/>
            <p:nvPr/>
          </p:nvSpPr>
          <p:spPr>
            <a:xfrm>
              <a:off x="7690104" y="5501030"/>
              <a:ext cx="268833" cy="396849"/>
            </a:xfrm>
            <a:prstGeom prst="rect">
              <a:avLst/>
            </a:prstGeom>
            <a:solidFill>
              <a:srgbClr val="488BA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5FFD237-5D27-5D57-578E-3E209E444BB7}"/>
                </a:ext>
              </a:extLst>
            </p:cNvPr>
            <p:cNvSpPr/>
            <p:nvPr/>
          </p:nvSpPr>
          <p:spPr>
            <a:xfrm>
              <a:off x="7754112" y="580826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FB62DBF-6C7E-F9A5-7A9C-58144B52D024}"/>
                </a:ext>
              </a:extLst>
            </p:cNvPr>
            <p:cNvSpPr/>
            <p:nvPr/>
          </p:nvSpPr>
          <p:spPr>
            <a:xfrm>
              <a:off x="7882128" y="580826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E9861D0-FD81-C0BE-459A-32E6137BEF90}"/>
                </a:ext>
              </a:extLst>
            </p:cNvPr>
            <p:cNvSpPr/>
            <p:nvPr/>
          </p:nvSpPr>
          <p:spPr>
            <a:xfrm>
              <a:off x="8016544" y="4937760"/>
              <a:ext cx="448055" cy="960119"/>
            </a:xfrm>
            <a:prstGeom prst="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4F9C0F5-C364-B8A6-A915-FA9318C19F43}"/>
                </a:ext>
              </a:extLst>
            </p:cNvPr>
            <p:cNvSpPr/>
            <p:nvPr/>
          </p:nvSpPr>
          <p:spPr>
            <a:xfrm>
              <a:off x="8080552" y="524499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DA943BF-8952-9DAC-3303-FA9F151FC2CA}"/>
                </a:ext>
              </a:extLst>
            </p:cNvPr>
            <p:cNvSpPr/>
            <p:nvPr/>
          </p:nvSpPr>
          <p:spPr>
            <a:xfrm>
              <a:off x="8208568" y="524499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8D02D3-A3AF-0967-2D93-5BF0B0200C44}"/>
                </a:ext>
              </a:extLst>
            </p:cNvPr>
            <p:cNvSpPr/>
            <p:nvPr/>
          </p:nvSpPr>
          <p:spPr>
            <a:xfrm>
              <a:off x="8080552" y="536021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B54A0BA-53D8-B5C8-A089-77F854671624}"/>
                </a:ext>
              </a:extLst>
            </p:cNvPr>
            <p:cNvSpPr/>
            <p:nvPr/>
          </p:nvSpPr>
          <p:spPr>
            <a:xfrm>
              <a:off x="8208568" y="536021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0D4D568-F45F-F462-4C2B-514A54755579}"/>
                </a:ext>
              </a:extLst>
            </p:cNvPr>
            <p:cNvSpPr/>
            <p:nvPr/>
          </p:nvSpPr>
          <p:spPr>
            <a:xfrm>
              <a:off x="8080552" y="5475427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18DBF3A-F00E-4A7E-0D9E-E25570A7EC80}"/>
                </a:ext>
              </a:extLst>
            </p:cNvPr>
            <p:cNvSpPr/>
            <p:nvPr/>
          </p:nvSpPr>
          <p:spPr>
            <a:xfrm>
              <a:off x="8208568" y="5475427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82A448A-6943-03B2-3ADC-2C1FC1E0522C}"/>
                </a:ext>
              </a:extLst>
            </p:cNvPr>
            <p:cNvSpPr/>
            <p:nvPr/>
          </p:nvSpPr>
          <p:spPr>
            <a:xfrm>
              <a:off x="8522208" y="5289804"/>
              <a:ext cx="332841" cy="608075"/>
            </a:xfrm>
            <a:prstGeom prst="rect">
              <a:avLst/>
            </a:prstGeom>
            <a:solidFill>
              <a:srgbClr val="5DB5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F1AB040-B471-D878-7530-74CDEBF6E36C}"/>
                </a:ext>
              </a:extLst>
            </p:cNvPr>
            <p:cNvSpPr/>
            <p:nvPr/>
          </p:nvSpPr>
          <p:spPr>
            <a:xfrm>
              <a:off x="8586216" y="559704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C17F353-24A6-6F6B-F0B7-0A224FC0A29D}"/>
                </a:ext>
              </a:extLst>
            </p:cNvPr>
            <p:cNvSpPr/>
            <p:nvPr/>
          </p:nvSpPr>
          <p:spPr>
            <a:xfrm>
              <a:off x="8714232" y="559704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83B9B6C-7FBE-74DC-B881-B04B33DEDAC8}"/>
                </a:ext>
              </a:extLst>
            </p:cNvPr>
            <p:cNvSpPr/>
            <p:nvPr/>
          </p:nvSpPr>
          <p:spPr>
            <a:xfrm>
              <a:off x="8586216" y="571225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CE2C263-69B3-F41E-025B-8DA0FCEB4782}"/>
                </a:ext>
              </a:extLst>
            </p:cNvPr>
            <p:cNvSpPr/>
            <p:nvPr/>
          </p:nvSpPr>
          <p:spPr>
            <a:xfrm>
              <a:off x="8714232" y="571225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178839C-DEFC-CE53-B810-013F6EAB2050}"/>
                </a:ext>
              </a:extLst>
            </p:cNvPr>
            <p:cNvSpPr/>
            <p:nvPr/>
          </p:nvSpPr>
          <p:spPr>
            <a:xfrm>
              <a:off x="8586216" y="582747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B4A7768-42F7-68E8-3727-EBE89B2B9151}"/>
                </a:ext>
              </a:extLst>
            </p:cNvPr>
            <p:cNvSpPr/>
            <p:nvPr/>
          </p:nvSpPr>
          <p:spPr>
            <a:xfrm>
              <a:off x="8714232" y="582747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08C29AE-A14F-1EAC-9396-614B25512C6F}"/>
                </a:ext>
              </a:extLst>
            </p:cNvPr>
            <p:cNvSpPr/>
            <p:nvPr/>
          </p:nvSpPr>
          <p:spPr>
            <a:xfrm>
              <a:off x="6825996" y="5897880"/>
              <a:ext cx="1470263" cy="38404"/>
            </a:xfrm>
            <a:prstGeom prst="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F9F0157-A88A-A158-CB30-D8BA43FA4257}"/>
              </a:ext>
            </a:extLst>
          </p:cNvPr>
          <p:cNvGrpSpPr/>
          <p:nvPr/>
        </p:nvGrpSpPr>
        <p:grpSpPr>
          <a:xfrm>
            <a:off x="2880360" y="192381"/>
            <a:ext cx="1097280" cy="497433"/>
            <a:chOff x="9372600" y="4892040"/>
            <a:chExt cx="1097280" cy="497433"/>
          </a:xfrm>
        </p:grpSpPr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52555BC5-4152-D7DA-171C-74F318427723}"/>
                </a:ext>
              </a:extLst>
            </p:cNvPr>
            <p:cNvSpPr/>
            <p:nvPr/>
          </p:nvSpPr>
          <p:spPr>
            <a:xfrm>
              <a:off x="9372600" y="4892040"/>
              <a:ext cx="1097280" cy="453542"/>
            </a:xfrm>
            <a:prstGeom prst="roundRect">
              <a:avLst/>
            </a:prstGeom>
            <a:solidFill>
              <a:srgbClr val="309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E98D1535-237F-C5F0-B67C-0C7C2C75A80F}"/>
                </a:ext>
              </a:extLst>
            </p:cNvPr>
            <p:cNvSpPr/>
            <p:nvPr/>
          </p:nvSpPr>
          <p:spPr>
            <a:xfrm>
              <a:off x="9460382" y="4979822"/>
              <a:ext cx="768096" cy="146304"/>
            </a:xfrm>
            <a:prstGeom prst="roundRect">
              <a:avLst/>
            </a:prstGeom>
            <a:solidFill>
              <a:srgbClr val="ED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21BD500-F350-32DB-EA4A-2A8092CD51D4}"/>
                </a:ext>
              </a:extLst>
            </p:cNvPr>
            <p:cNvSpPr/>
            <p:nvPr/>
          </p:nvSpPr>
          <p:spPr>
            <a:xfrm>
              <a:off x="9489643" y="5001768"/>
              <a:ext cx="117043" cy="950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19252D4-A294-ABEE-7545-C4FECA61C196}"/>
                </a:ext>
              </a:extLst>
            </p:cNvPr>
            <p:cNvSpPr/>
            <p:nvPr/>
          </p:nvSpPr>
          <p:spPr>
            <a:xfrm>
              <a:off x="9665208" y="5001768"/>
              <a:ext cx="117043" cy="950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F0B48E7-A99C-9BEA-36D4-7A82B7C4F801}"/>
                </a:ext>
              </a:extLst>
            </p:cNvPr>
            <p:cNvSpPr/>
            <p:nvPr/>
          </p:nvSpPr>
          <p:spPr>
            <a:xfrm>
              <a:off x="9840772" y="5001768"/>
              <a:ext cx="117043" cy="950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C16354C-D810-1DD0-5C96-6FA0A7738E98}"/>
                </a:ext>
              </a:extLst>
            </p:cNvPr>
            <p:cNvSpPr/>
            <p:nvPr/>
          </p:nvSpPr>
          <p:spPr>
            <a:xfrm>
              <a:off x="10016337" y="5001768"/>
              <a:ext cx="117043" cy="9509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9AA4F6E-3B61-376D-EF57-86BFE3E0B05E}"/>
                </a:ext>
              </a:extLst>
            </p:cNvPr>
            <p:cNvSpPr/>
            <p:nvPr/>
          </p:nvSpPr>
          <p:spPr>
            <a:xfrm>
              <a:off x="9555480" y="5243169"/>
              <a:ext cx="146304" cy="146304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CC8F763-B172-B589-BE0D-0186DE0C57C2}"/>
                </a:ext>
              </a:extLst>
            </p:cNvPr>
            <p:cNvSpPr/>
            <p:nvPr/>
          </p:nvSpPr>
          <p:spPr>
            <a:xfrm>
              <a:off x="10162641" y="5243169"/>
              <a:ext cx="146304" cy="146304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CB386BCC-592C-44AF-CD87-5286CC1C4B85}"/>
              </a:ext>
            </a:extLst>
          </p:cNvPr>
          <p:cNvSpPr txBox="1"/>
          <p:nvPr/>
        </p:nvSpPr>
        <p:spPr>
          <a:xfrm>
            <a:off x="525460" y="1300999"/>
            <a:ext cx="154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TRANSPORT</a:t>
            </a:r>
            <a:r>
              <a:rPr lang="en-GB" b="1" dirty="0">
                <a:latin typeface="Aptos" panose="020B0004020202020204" pitchFamily="34" charset="0"/>
              </a:rPr>
              <a:t>  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BBB7260-530D-03BF-8582-64DF3E5FCA3A}"/>
              </a:ext>
            </a:extLst>
          </p:cNvPr>
          <p:cNvSpPr txBox="1"/>
          <p:nvPr/>
        </p:nvSpPr>
        <p:spPr>
          <a:xfrm>
            <a:off x="657518" y="2551814"/>
            <a:ext cx="154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ENERGY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0F3D35D-93B6-1510-1667-63F407F34CAE}"/>
              </a:ext>
            </a:extLst>
          </p:cNvPr>
          <p:cNvSpPr txBox="1"/>
          <p:nvPr/>
        </p:nvSpPr>
        <p:spPr>
          <a:xfrm>
            <a:off x="606056" y="3697047"/>
            <a:ext cx="1327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3">
                    <a:lumMod val="50000"/>
                  </a:schemeClr>
                </a:solidFill>
                <a:latin typeface="Aptos" panose="020B0004020202020204" pitchFamily="34" charset="0"/>
              </a:rPr>
              <a:t>WASTE</a:t>
            </a:r>
            <a:endParaRPr lang="en-IN" b="1" dirty="0">
              <a:solidFill>
                <a:schemeClr val="accent3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B90883A-4B5B-5711-3BC0-104CFB760E6B}"/>
              </a:ext>
            </a:extLst>
          </p:cNvPr>
          <p:cNvSpPr txBox="1"/>
          <p:nvPr/>
        </p:nvSpPr>
        <p:spPr>
          <a:xfrm>
            <a:off x="657518" y="5243169"/>
            <a:ext cx="1543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EMERGENCY</a:t>
            </a:r>
            <a:endParaRPr lang="en-IN" b="1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92" name="Chart 91">
            <a:extLst>
              <a:ext uri="{FF2B5EF4-FFF2-40B4-BE49-F238E27FC236}">
                <a16:creationId xmlns:a16="http://schemas.microsoft.com/office/drawing/2014/main" id="{8E576ADC-46E8-4BF1-8829-6840751845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3510244"/>
              </p:ext>
            </p:extLst>
          </p:nvPr>
        </p:nvGraphicFramePr>
        <p:xfrm>
          <a:off x="2820839" y="585216"/>
          <a:ext cx="3903382" cy="184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3" name="Chart 92">
            <a:extLst>
              <a:ext uri="{FF2B5EF4-FFF2-40B4-BE49-F238E27FC236}">
                <a16:creationId xmlns:a16="http://schemas.microsoft.com/office/drawing/2014/main" id="{F85E5EB9-2B74-48B0-889C-B1317D1C33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8177504"/>
              </p:ext>
            </p:extLst>
          </p:nvPr>
        </p:nvGraphicFramePr>
        <p:xfrm>
          <a:off x="7782187" y="1532546"/>
          <a:ext cx="4013573" cy="2177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5" name="Chart 94">
            <a:extLst>
              <a:ext uri="{FF2B5EF4-FFF2-40B4-BE49-F238E27FC236}">
                <a16:creationId xmlns:a16="http://schemas.microsoft.com/office/drawing/2014/main" id="{FC7C7DA0-0929-44EB-94FB-0B71ADFC58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906218"/>
              </p:ext>
            </p:extLst>
          </p:nvPr>
        </p:nvGraphicFramePr>
        <p:xfrm>
          <a:off x="7818529" y="4155754"/>
          <a:ext cx="3739029" cy="2293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6" name="Chart 95">
            <a:extLst>
              <a:ext uri="{FF2B5EF4-FFF2-40B4-BE49-F238E27FC236}">
                <a16:creationId xmlns:a16="http://schemas.microsoft.com/office/drawing/2014/main" id="{C357A11B-DA4D-49EC-A5D2-C094990D51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3179332"/>
              </p:ext>
            </p:extLst>
          </p:nvPr>
        </p:nvGraphicFramePr>
        <p:xfrm>
          <a:off x="2958124" y="2867522"/>
          <a:ext cx="4103221" cy="2375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C290330-7A82-2E8C-92A0-126C43E632D3}"/>
              </a:ext>
            </a:extLst>
          </p:cNvPr>
          <p:cNvCxnSpPr/>
          <p:nvPr/>
        </p:nvCxnSpPr>
        <p:spPr>
          <a:xfrm>
            <a:off x="2085726" y="1670331"/>
            <a:ext cx="10872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5B997B16-1956-A6C7-C19B-34BAEA602993}"/>
              </a:ext>
            </a:extLst>
          </p:cNvPr>
          <p:cNvCxnSpPr/>
          <p:nvPr/>
        </p:nvCxnSpPr>
        <p:spPr>
          <a:xfrm>
            <a:off x="1933425" y="2736480"/>
            <a:ext cx="5668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469636F-2168-3E02-4A65-C7B49A60B181}"/>
              </a:ext>
            </a:extLst>
          </p:cNvPr>
          <p:cNvCxnSpPr/>
          <p:nvPr/>
        </p:nvCxnSpPr>
        <p:spPr>
          <a:xfrm flipV="1">
            <a:off x="2200940" y="3867682"/>
            <a:ext cx="796463" cy="11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1B1C51A-31E3-DECD-AB2D-CF3F5BE11D6B}"/>
              </a:ext>
            </a:extLst>
          </p:cNvPr>
          <p:cNvCxnSpPr/>
          <p:nvPr/>
        </p:nvCxnSpPr>
        <p:spPr>
          <a:xfrm>
            <a:off x="2349795" y="5427835"/>
            <a:ext cx="51674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003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3000">
        <p14:reveal/>
      </p:transition>
    </mc:Choice>
    <mc:Fallback>
      <p:transition spd="slow" advClick="0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73152"/>
            <a:ext cx="11914632" cy="73152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3D58"/>
                </a:solidFill>
                <a:latin typeface="Aptos"/>
              </a:rPr>
              <a:t>Dataset &amp;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85216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C87"/>
                </a:solidFill>
                <a:latin typeface="Aptos"/>
              </a:rPr>
              <a:t>Four operational data streams feed one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C87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D58"/>
                </a:solidFill>
                <a:latin typeface="Aptos"/>
              </a:rPr>
              <a:t>RAW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2286000" cy="896112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54864" cy="896112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1600200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Transport_Raw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01952"/>
            <a:ext cx="196596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1,350+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481328"/>
            <a:ext cx="2286000" cy="896112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71800" y="1481328"/>
            <a:ext cx="54864" cy="896112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36392" y="1600200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Energy_Raw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1901952"/>
            <a:ext cx="196596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150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96896"/>
            <a:ext cx="2286000" cy="896112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2596896"/>
            <a:ext cx="54864" cy="896112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715768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Waste_Raw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017520"/>
            <a:ext cx="196596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600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2596896"/>
            <a:ext cx="2286000" cy="896112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71800" y="2596896"/>
            <a:ext cx="54864" cy="896112"/>
          </a:xfrm>
          <a:prstGeom prst="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36392" y="2715768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Emergency_Raw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2" y="3017520"/>
            <a:ext cx="196596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200+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10515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D58"/>
                </a:solidFill>
                <a:latin typeface="Aptos"/>
              </a:rPr>
              <a:t>CALCULATION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1417320"/>
            <a:ext cx="2057400" cy="420624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96128" y="1508760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3D58"/>
                </a:solidFill>
                <a:latin typeface="Aptos"/>
              </a:rPr>
              <a:t>Transport_Calc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2057400"/>
            <a:ext cx="2057400" cy="420624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96128" y="2148840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3D58"/>
                </a:solidFill>
                <a:latin typeface="Aptos"/>
              </a:rPr>
              <a:t>Energy_Calc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2697480"/>
            <a:ext cx="2057400" cy="420624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96128" y="2788920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3D58"/>
                </a:solidFill>
                <a:latin typeface="Aptos"/>
              </a:rPr>
              <a:t>Waste_Calc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3337559"/>
            <a:ext cx="2057400" cy="420624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96128" y="3428999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193D58"/>
                </a:solidFill>
                <a:latin typeface="Aptos"/>
              </a:rPr>
              <a:t>Emergency_Calc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105156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D58"/>
                </a:solidFill>
                <a:latin typeface="Aptos"/>
              </a:rPr>
              <a:t>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1463040"/>
            <a:ext cx="2971800" cy="2743200"/>
          </a:xfrm>
          <a:prstGeom prst="round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23960" y="1783080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SMART CITY
OPERATIONS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20" y="2578608"/>
            <a:ext cx="1280160" cy="512064"/>
          </a:xfrm>
          <a:prstGeom prst="roundRect">
            <a:avLst/>
          </a:prstGeom>
          <a:solidFill>
            <a:srgbClr val="4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59952" y="2633472"/>
            <a:ext cx="12252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Passengers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9952" y="2807208"/>
            <a:ext cx="122529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68,148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2578608"/>
            <a:ext cx="1280160" cy="512064"/>
          </a:xfrm>
          <a:prstGeom prst="round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77272" y="2633472"/>
            <a:ext cx="12252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Energy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72" y="2807208"/>
            <a:ext cx="122529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37,128.5 MWh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520" y="3291839"/>
            <a:ext cx="1280160" cy="512064"/>
          </a:xfrm>
          <a:prstGeom prst="round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59952" y="3346703"/>
            <a:ext cx="12252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Waste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9952" y="3520439"/>
            <a:ext cx="122529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4,864.3 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3291839"/>
            <a:ext cx="1280160" cy="512064"/>
          </a:xfrm>
          <a:prstGeom prst="round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77272" y="3346703"/>
            <a:ext cx="1225296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"/>
              </a:rPr>
              <a:t>Incidents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77272" y="3520439"/>
            <a:ext cx="122529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228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74920" y="1874519"/>
            <a:ext cx="411480" cy="0"/>
          </a:xfrm>
          <a:prstGeom prst="line">
            <a:avLst/>
          </a:prstGeom>
          <a:ln w="25400">
            <a:solidFill>
              <a:srgbClr val="309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074920" y="3017520"/>
            <a:ext cx="411480" cy="0"/>
          </a:xfrm>
          <a:prstGeom prst="line">
            <a:avLst/>
          </a:prstGeom>
          <a:ln w="25400">
            <a:solidFill>
              <a:srgbClr val="309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543800" y="2514600"/>
            <a:ext cx="1005840" cy="0"/>
          </a:xfrm>
          <a:prstGeom prst="line">
            <a:avLst/>
          </a:prstGeom>
          <a:ln w="25400">
            <a:solidFill>
              <a:srgbClr val="309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02920" y="43434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C87"/>
                </a:solidFill>
                <a:latin typeface="Aptos"/>
              </a:rPr>
              <a:t>5 city zones • 30 days of operational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7548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942"/>
                </a:solidFill>
                <a:latin typeface="Aptos"/>
              </a:rPr>
              <a:t>4 raw-data sheets + 4 calculation sheets + dashboard + formula examples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57EE81-44A5-6601-666A-D86878FDA3FB}"/>
              </a:ext>
            </a:extLst>
          </p:cNvPr>
          <p:cNvGrpSpPr/>
          <p:nvPr/>
        </p:nvGrpSpPr>
        <p:grpSpPr>
          <a:xfrm>
            <a:off x="8654796" y="5029200"/>
            <a:ext cx="2029053" cy="998524"/>
            <a:chOff x="8654796" y="5029200"/>
            <a:chExt cx="2029053" cy="998524"/>
          </a:xfrm>
        </p:grpSpPr>
        <p:sp>
          <p:nvSpPr>
            <p:cNvPr id="53" name="Rectangle 52"/>
            <p:cNvSpPr/>
            <p:nvPr/>
          </p:nvSpPr>
          <p:spPr>
            <a:xfrm>
              <a:off x="8686800" y="5509260"/>
              <a:ext cx="320040" cy="480059"/>
            </a:xfrm>
            <a:prstGeom prst="rect">
              <a:avLst/>
            </a:prstGeom>
            <a:solidFill>
              <a:srgbClr val="2D69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750808" y="581649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878824" y="581649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750808" y="593171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878824" y="593171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9064447" y="5221224"/>
              <a:ext cx="396849" cy="768096"/>
            </a:xfrm>
            <a:prstGeom prst="rect">
              <a:avLst/>
            </a:prstGeom>
            <a:solidFill>
              <a:srgbClr val="309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9128455" y="552846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9256471" y="552846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9128455" y="564367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256471" y="564367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9128455" y="575889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9256471" y="575889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9518904" y="5592470"/>
              <a:ext cx="268833" cy="396849"/>
            </a:xfrm>
            <a:prstGeom prst="rect">
              <a:avLst/>
            </a:prstGeom>
            <a:solidFill>
              <a:srgbClr val="488BA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9582912" y="589970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9710928" y="589970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845344" y="5029200"/>
              <a:ext cx="448055" cy="960119"/>
            </a:xfrm>
            <a:prstGeom prst="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909352" y="533643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0037368" y="533643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9909352" y="545165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0037368" y="545165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909352" y="5566867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0037368" y="5566867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0351008" y="5381244"/>
              <a:ext cx="332841" cy="608075"/>
            </a:xfrm>
            <a:prstGeom prst="rect">
              <a:avLst/>
            </a:prstGeom>
            <a:solidFill>
              <a:srgbClr val="5DB5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0415016" y="568848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0543032" y="568848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10415016" y="580369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0543032" y="580369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0415016" y="591891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0543032" y="591891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8654796" y="5989320"/>
              <a:ext cx="1470263" cy="38404"/>
            </a:xfrm>
            <a:prstGeom prst="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3000">
        <p14:reveal/>
      </p:transition>
    </mc:Choice>
    <mc:Fallback>
      <p:transition spd="slow" advClick="0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73152"/>
            <a:ext cx="11914632" cy="73152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3D58"/>
                </a:solidFill>
                <a:latin typeface="Aptos"/>
              </a:rPr>
              <a:t>Excel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85216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C87"/>
                </a:solidFill>
                <a:latin typeface="Aptos"/>
              </a:rPr>
              <a:t>Core techniques used to turn city data into operational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C87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3429000" cy="137160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4864" cy="1371600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XLOOKUP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655064"/>
            <a:ext cx="310896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Lookup zone-level energy totals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34440"/>
            <a:ext cx="3429000" cy="137160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234440"/>
            <a:ext cx="54864" cy="1371600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1353312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INDEX-MATCH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655064"/>
            <a:ext cx="310896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Multi-criteria lookups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429000" cy="137160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54864" cy="1371600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353312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SUMIFS / COUNTIFS / AVERAGEIFS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655064"/>
            <a:ext cx="310896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Conditional aggregation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63240"/>
            <a:ext cx="3429000" cy="137160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063240"/>
            <a:ext cx="54864" cy="1371600"/>
          </a:xfrm>
          <a:prstGeom prst="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3182112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IF + COUNTIF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483864"/>
            <a:ext cx="310896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Visual status indicators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063240"/>
            <a:ext cx="3429000" cy="137160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3063240"/>
            <a:ext cx="54864" cy="1371600"/>
          </a:xfrm>
          <a:prstGeom prst="rect">
            <a:avLst/>
          </a:prstGeom>
          <a:solidFill>
            <a:srgbClr val="4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16552" y="3182112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MAXIFS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3483864"/>
            <a:ext cx="310896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Find maximum 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063240"/>
            <a:ext cx="3429000" cy="137160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063240"/>
            <a:ext cx="54864" cy="1371600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11312" y="3182112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PivotTables + Slicers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483864"/>
            <a:ext cx="310896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Interactive filtering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6636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3D58"/>
                </a:solidFill>
                <a:latin typeface="Aptos"/>
              </a:rPr>
              <a:t>Quality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102352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A3942"/>
                </a:solidFill>
                <a:latin typeface="Aptos"/>
              </a:rPr>
              <a:t>Verify key uniqueness, nulls, numeric types, lookup consistency and dashboard totals before presenting insights.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0F851F-3A01-C345-58A2-8773FB909EA8}"/>
              </a:ext>
            </a:extLst>
          </p:cNvPr>
          <p:cNvGrpSpPr/>
          <p:nvPr/>
        </p:nvGrpSpPr>
        <p:grpSpPr>
          <a:xfrm>
            <a:off x="10241280" y="4983480"/>
            <a:ext cx="987093" cy="512977"/>
            <a:chOff x="10241280" y="4983480"/>
            <a:chExt cx="987093" cy="512977"/>
          </a:xfrm>
        </p:grpSpPr>
        <p:sp>
          <p:nvSpPr>
            <p:cNvPr id="33" name="Rounded Rectangle 32"/>
            <p:cNvSpPr/>
            <p:nvPr/>
          </p:nvSpPr>
          <p:spPr>
            <a:xfrm>
              <a:off x="10241280" y="5115610"/>
              <a:ext cx="792784" cy="295351"/>
            </a:xfrm>
            <a:prstGeom prst="roundRect">
              <a:avLst/>
            </a:prstGeom>
            <a:solidFill>
              <a:srgbClr val="309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0831982" y="4983480"/>
              <a:ext cx="326440" cy="427482"/>
            </a:xfrm>
            <a:prstGeom prst="roundRect">
              <a:avLst/>
            </a:prstGeom>
            <a:solidFill>
              <a:srgbClr val="309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909706" y="5061204"/>
              <a:ext cx="155448" cy="108813"/>
            </a:xfrm>
            <a:prstGeom prst="roundRect">
              <a:avLst/>
            </a:prstGeom>
            <a:solidFill>
              <a:srgbClr val="ED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11135105" y="5263286"/>
              <a:ext cx="93268" cy="77724"/>
            </a:xfrm>
            <a:prstGeom prst="round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Oval 36"/>
            <p:cNvSpPr/>
            <p:nvPr/>
          </p:nvSpPr>
          <p:spPr>
            <a:xfrm>
              <a:off x="10365638" y="5325465"/>
              <a:ext cx="170992" cy="170992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Oval 37"/>
            <p:cNvSpPr/>
            <p:nvPr/>
          </p:nvSpPr>
          <p:spPr>
            <a:xfrm>
              <a:off x="10412272" y="5372100"/>
              <a:ext cx="77724" cy="777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10909706" y="5325465"/>
              <a:ext cx="170992" cy="170992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39"/>
            <p:cNvSpPr/>
            <p:nvPr/>
          </p:nvSpPr>
          <p:spPr>
            <a:xfrm>
              <a:off x="10956340" y="5372100"/>
              <a:ext cx="77724" cy="777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14:reveal/>
      </p:transition>
    </mc:Choice>
    <mc:Fallback>
      <p:transition spd="slow" advClick="0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73152"/>
            <a:ext cx="11914632" cy="73152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3D58"/>
                </a:solidFill>
                <a:latin typeface="Aptos"/>
              </a:rP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85216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C87"/>
                </a:solidFill>
                <a:latin typeface="Aptos"/>
              </a:rPr>
              <a:t>30-day headline performance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C87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2606040" cy="12801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64008" cy="1280160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36245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93D58"/>
                </a:solidFill>
                <a:latin typeface="Aptos"/>
              </a:rPr>
              <a:t>Total passengers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916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6991"/>
                </a:solidFill>
                <a:latin typeface="Aptos"/>
              </a:rPr>
              <a:t>68,148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85416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C87"/>
                </a:solidFill>
                <a:latin typeface="Aptos"/>
              </a:rPr>
              <a:t>transport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234440"/>
            <a:ext cx="2606040" cy="12801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234440"/>
            <a:ext cx="64008" cy="1280160"/>
          </a:xfrm>
          <a:prstGeom prst="rect">
            <a:avLst/>
          </a:prstGeom>
          <a:solidFill>
            <a:srgbClr val="4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56432" y="136245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93D58"/>
                </a:solidFill>
                <a:latin typeface="Aptos"/>
              </a:rPr>
              <a:t>Average delay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6916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88BA9"/>
                </a:solidFill>
                <a:latin typeface="Aptos"/>
              </a:rPr>
              <a:t>4.6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185416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C87"/>
                </a:solidFill>
                <a:latin typeface="Aptos"/>
              </a:rPr>
              <a:t>transport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34440"/>
            <a:ext cx="2606040" cy="12801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234440"/>
            <a:ext cx="64008" cy="1280160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136245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93D58"/>
                </a:solidFill>
                <a:latin typeface="Aptos"/>
              </a:rPr>
              <a:t>Total 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6916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976F"/>
                </a:solidFill>
                <a:latin typeface="Aptos"/>
              </a:rPr>
              <a:t>37,128.5 MWh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185416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C87"/>
                </a:solidFill>
                <a:latin typeface="Aptos"/>
              </a:rPr>
              <a:t>energy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1234440"/>
            <a:ext cx="2606040" cy="12801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52559" y="1234440"/>
            <a:ext cx="64008" cy="1280160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1" y="1362456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93D58"/>
                </a:solidFill>
                <a:latin typeface="Aptos"/>
              </a:rPr>
              <a:t>Total outages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1" y="169164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DB580"/>
                </a:solidFill>
                <a:latin typeface="Aptos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1" y="2185416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C87"/>
                </a:solidFill>
                <a:latin typeface="Aptos"/>
              </a:rPr>
              <a:t>energy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2862072"/>
            <a:ext cx="2606040" cy="12801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2862072"/>
            <a:ext cx="64008" cy="1280160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" y="299008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93D58"/>
                </a:solidFill>
                <a:latin typeface="Aptos"/>
              </a:rPr>
              <a:t>Total waste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33192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DB580"/>
                </a:solidFill>
                <a:latin typeface="Aptos"/>
              </a:rPr>
              <a:t>4,864.3 tonnes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3813048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C87"/>
                </a:solidFill>
                <a:latin typeface="Aptos"/>
              </a:rPr>
              <a:t>waste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2862072"/>
            <a:ext cx="2606040" cy="12801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91840" y="2862072"/>
            <a:ext cx="64008" cy="1280160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56432" y="299008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93D58"/>
                </a:solidFill>
                <a:latin typeface="Aptos"/>
              </a:rPr>
              <a:t>Recycling 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33192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0976F"/>
                </a:solidFill>
                <a:latin typeface="Aptos"/>
              </a:rPr>
              <a:t>57.2%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3813048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C87"/>
                </a:solidFill>
                <a:latin typeface="Aptos"/>
              </a:rPr>
              <a:t>waste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2862072"/>
            <a:ext cx="2606040" cy="12801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72200" y="2862072"/>
            <a:ext cx="64008" cy="1280160"/>
          </a:xfrm>
          <a:prstGeom prst="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36792" y="299008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93D58"/>
                </a:solidFill>
                <a:latin typeface="Aptos"/>
              </a:rPr>
              <a:t>Total incidents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33192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9445"/>
                </a:solidFill>
                <a:latin typeface="Aptos"/>
              </a:rPr>
              <a:t>228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3813048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C87"/>
                </a:solidFill>
                <a:latin typeface="Aptos"/>
              </a:rPr>
              <a:t>emergency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59" y="2862072"/>
            <a:ext cx="2606040" cy="12801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052559" y="2862072"/>
            <a:ext cx="64008" cy="1280160"/>
          </a:xfrm>
          <a:prstGeom prst="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17151" y="299008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93D58"/>
                </a:solidFill>
                <a:latin typeface="Aptos"/>
              </a:rPr>
              <a:t>Avg response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1" y="3319272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9445"/>
                </a:solidFill>
                <a:latin typeface="Aptos"/>
              </a:rPr>
              <a:t>12.3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7151" y="3813048"/>
            <a:ext cx="20116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697C87"/>
                </a:solidFill>
                <a:latin typeface="Aptos"/>
              </a:rPr>
              <a:t>emergency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84632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942"/>
                </a:solidFill>
                <a:latin typeface="Aptos"/>
              </a:rPr>
              <a:t>One dashboard brings the four domains together so operators can monitor volume, performance and service pressure at a glance.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89720" y="5362956"/>
            <a:ext cx="356616" cy="534924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261043" y="5705307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403689" y="5705307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261043" y="5833689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403689" y="5833689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610526" y="5042001"/>
            <a:ext cx="442203" cy="855878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681850" y="5384352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824496" y="5384352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81850" y="5512734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24496" y="5512734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681850" y="5641116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824496" y="5641116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0116921" y="5455676"/>
            <a:ext cx="299557" cy="442203"/>
          </a:xfrm>
          <a:prstGeom prst="rect">
            <a:avLst/>
          </a:prstGeom>
          <a:solidFill>
            <a:srgbClr val="4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188244" y="5798027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0330891" y="5798027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480669" y="4828032"/>
            <a:ext cx="499262" cy="1069848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551993" y="5170383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694639" y="5170383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551993" y="5298765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0694639" y="5298765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551993" y="5427146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694639" y="5427146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1044123" y="5220309"/>
            <a:ext cx="370880" cy="677570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1115446" y="5562660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1258092" y="5562660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115446" y="5691042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258092" y="5691042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115446" y="5819424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258092" y="5819424"/>
            <a:ext cx="57058" cy="6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154058" y="5897880"/>
            <a:ext cx="1821451" cy="42793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10561320" y="5257800"/>
            <a:ext cx="960119" cy="396849"/>
          </a:xfrm>
          <a:prstGeom prst="round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0638129" y="5334609"/>
            <a:ext cx="672084" cy="128015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663732" y="5353812"/>
            <a:ext cx="102412" cy="832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817352" y="5353812"/>
            <a:ext cx="102412" cy="832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970971" y="5353812"/>
            <a:ext cx="102412" cy="832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124590" y="5353812"/>
            <a:ext cx="102412" cy="832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721340" y="5565038"/>
            <a:ext cx="128015" cy="128015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252606" y="5565038"/>
            <a:ext cx="128015" cy="128015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split orient="vert"/>
      </p:transition>
    </mc:Choice>
    <mc:Fallback>
      <p:transition spd="slow" advClick="0" advTm="3000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73152"/>
            <a:ext cx="11914632" cy="73152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3D58"/>
                </a:solidFill>
                <a:latin typeface="Aptos"/>
              </a:rPr>
              <a:t>Operational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85216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C87"/>
                </a:solidFill>
                <a:latin typeface="Aptos"/>
              </a:rPr>
              <a:t>How the four city domains contribute to the 30-day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C87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2606040" cy="3154680"/>
          </a:xfrm>
          <a:prstGeom prst="roundRect">
            <a:avLst/>
          </a:prstGeom>
          <a:solidFill>
            <a:srgbClr val="F8FBFC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2606040" cy="109728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17320" y="1632569"/>
            <a:ext cx="578266" cy="215432"/>
          </a:xfrm>
          <a:prstGeom prst="round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848185" y="1536192"/>
            <a:ext cx="238109" cy="311810"/>
          </a:xfrm>
          <a:prstGeom prst="round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904878" y="1592884"/>
            <a:ext cx="113385" cy="79369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069287" y="1740286"/>
            <a:ext cx="68031" cy="56692"/>
          </a:xfrm>
          <a:prstGeom prst="round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508028" y="1785640"/>
            <a:ext cx="124724" cy="124724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542044" y="1819656"/>
            <a:ext cx="56692" cy="566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04878" y="1785640"/>
            <a:ext cx="124724" cy="124724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938893" y="1819656"/>
            <a:ext cx="56692" cy="566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26771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3D58"/>
                </a:solidFill>
                <a:latin typeface="Aptos"/>
              </a:rPr>
              <a:t>TRANSPORT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688336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D6991"/>
                </a:solidFill>
                <a:latin typeface="Aptos"/>
              </a:rPr>
              <a:t>68,148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054096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97C87"/>
                </a:solidFill>
                <a:latin typeface="Aptos"/>
              </a:rPr>
              <a:t>passengers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9300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A3942"/>
                </a:solidFill>
                <a:latin typeface="Aptos"/>
              </a:rPr>
              <a:t>4.6 min avg delay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1234440"/>
            <a:ext cx="2606040" cy="3154680"/>
          </a:xfrm>
          <a:prstGeom prst="roundRect">
            <a:avLst/>
          </a:prstGeom>
          <a:solidFill>
            <a:srgbClr val="F8FBFC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91840" y="1234440"/>
            <a:ext cx="2606040" cy="109728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4325112" y="1572768"/>
            <a:ext cx="311810" cy="464880"/>
          </a:xfrm>
          <a:prstGeom prst="downArrow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0" y="226771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3D58"/>
                </a:solidFill>
                <a:latin typeface="Aptos"/>
              </a:rPr>
              <a:t>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688336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0976F"/>
                </a:solidFill>
                <a:latin typeface="Aptos"/>
              </a:rPr>
              <a:t>37,128.5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054096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97C87"/>
                </a:solidFill>
                <a:latin typeface="Aptos"/>
              </a:rPr>
              <a:t>MWh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49300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A3942"/>
                </a:solidFill>
                <a:latin typeface="Aptos"/>
              </a:rPr>
              <a:t>12 outages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234440"/>
            <a:ext cx="2606040" cy="3154680"/>
          </a:xfrm>
          <a:prstGeom prst="roundRect">
            <a:avLst/>
          </a:prstGeom>
          <a:solidFill>
            <a:srgbClr val="F8FBFC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1234440"/>
            <a:ext cx="2606040" cy="109728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05472" y="1572768"/>
            <a:ext cx="170078" cy="283464"/>
          </a:xfrm>
          <a:prstGeom prst="ellipse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330196" y="1572768"/>
            <a:ext cx="170078" cy="283464"/>
          </a:xfrm>
          <a:prstGeom prst="ellipse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01849" y="1776862"/>
            <a:ext cx="34015" cy="215432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226771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3D58"/>
                </a:solidFill>
                <a:latin typeface="Aptos"/>
              </a:rPr>
              <a:t>WASTE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688336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DB580"/>
                </a:solidFill>
                <a:latin typeface="Aptos"/>
              </a:rPr>
              <a:t>4,864.3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054096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97C87"/>
                </a:solidFill>
                <a:latin typeface="Aptos"/>
              </a:rPr>
              <a:t>tonnes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49300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A3942"/>
                </a:solidFill>
                <a:latin typeface="Aptos"/>
              </a:rPr>
              <a:t>57.2% recycling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59" y="1234440"/>
            <a:ext cx="2606040" cy="3154680"/>
          </a:xfrm>
          <a:prstGeom prst="roundRect">
            <a:avLst/>
          </a:prstGeom>
          <a:solidFill>
            <a:srgbClr val="F8FBFC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52559" y="1234440"/>
            <a:ext cx="2606040" cy="109728"/>
          </a:xfrm>
          <a:prstGeom prst="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0142524" y="1788200"/>
            <a:ext cx="408188" cy="170078"/>
          </a:xfrm>
          <a:prstGeom prst="round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210556" y="1669145"/>
            <a:ext cx="272125" cy="130393"/>
          </a:xfrm>
          <a:prstGeom prst="round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261579" y="1572768"/>
            <a:ext cx="158739" cy="102047"/>
          </a:xfrm>
          <a:prstGeom prst="round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35439" y="226771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93D58"/>
                </a:solidFill>
                <a:latin typeface="Aptos"/>
              </a:rPr>
              <a:t>EMERGENCY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39" y="2688336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89445"/>
                </a:solidFill>
                <a:latin typeface="Aptos"/>
              </a:rPr>
              <a:t>228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39" y="3054096"/>
            <a:ext cx="2240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97C87"/>
                </a:solidFill>
                <a:latin typeface="Aptos"/>
              </a:rPr>
              <a:t>incidents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39" y="3493008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A3942"/>
                </a:solidFill>
                <a:latin typeface="Aptos"/>
              </a:rPr>
              <a:t>12.3 min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4441" y="4681047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A3942"/>
                </a:solidFill>
                <a:latin typeface="Aptos"/>
              </a:rPr>
              <a:t>The dashboard is designed as an operations-center view: each domain has a clear KPI set while the workbook supports cross-domain analysis.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E44521-7C0E-A86E-DEB9-866DA7B6396C}"/>
              </a:ext>
            </a:extLst>
          </p:cNvPr>
          <p:cNvGrpSpPr/>
          <p:nvPr/>
        </p:nvGrpSpPr>
        <p:grpSpPr>
          <a:xfrm>
            <a:off x="9752076" y="4937760"/>
            <a:ext cx="2029053" cy="998524"/>
            <a:chOff x="9752076" y="4937760"/>
            <a:chExt cx="2029053" cy="998524"/>
          </a:xfrm>
        </p:grpSpPr>
        <p:sp>
          <p:nvSpPr>
            <p:cNvPr id="47" name="Rectangle 46"/>
            <p:cNvSpPr/>
            <p:nvPr/>
          </p:nvSpPr>
          <p:spPr>
            <a:xfrm>
              <a:off x="9784080" y="5417820"/>
              <a:ext cx="320040" cy="480059"/>
            </a:xfrm>
            <a:prstGeom prst="rect">
              <a:avLst/>
            </a:prstGeom>
            <a:solidFill>
              <a:srgbClr val="2D69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9848088" y="572505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9976104" y="572505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848088" y="584027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9976104" y="584027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10161727" y="5129784"/>
              <a:ext cx="396849" cy="768096"/>
            </a:xfrm>
            <a:prstGeom prst="rect">
              <a:avLst/>
            </a:prstGeom>
            <a:solidFill>
              <a:srgbClr val="309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225735" y="543702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353751" y="543702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225735" y="555223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0353751" y="555223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10225735" y="566745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0353751" y="566745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0616184" y="5501030"/>
              <a:ext cx="268833" cy="396849"/>
            </a:xfrm>
            <a:prstGeom prst="rect">
              <a:avLst/>
            </a:prstGeom>
            <a:solidFill>
              <a:srgbClr val="488BA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0680192" y="580826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0808208" y="580826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0942624" y="4937760"/>
              <a:ext cx="448055" cy="960119"/>
            </a:xfrm>
            <a:prstGeom prst="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1006632" y="524499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1134648" y="5244998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006632" y="536021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134648" y="536021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006632" y="5475427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1134648" y="5475427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11448288" y="5289804"/>
              <a:ext cx="332841" cy="608075"/>
            </a:xfrm>
            <a:prstGeom prst="rect">
              <a:avLst/>
            </a:prstGeom>
            <a:solidFill>
              <a:srgbClr val="5DB5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1512296" y="559704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11640312" y="5597042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11512296" y="571225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11640312" y="5712256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11512296" y="582747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11640312" y="5827471"/>
              <a:ext cx="51206" cy="576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9752076" y="5897880"/>
              <a:ext cx="1470263" cy="38404"/>
            </a:xfrm>
            <a:prstGeom prst="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3000">
        <p14:reveal/>
      </p:transition>
    </mc:Choice>
    <mc:Fallback>
      <p:transition spd="slow" advClick="0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73152"/>
            <a:ext cx="11914632" cy="73152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3D58"/>
                </a:solidFill>
                <a:latin typeface="Aptos"/>
              </a:rPr>
              <a:t>Key Insights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85216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C87"/>
                </a:solidFill>
                <a:latin typeface="Aptos"/>
              </a:rPr>
              <a:t>What the dashboard reveals — and the operational response it suggests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C87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10515600" cy="694944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own Arrow 7"/>
          <p:cNvSpPr/>
          <p:nvPr/>
        </p:nvSpPr>
        <p:spPr>
          <a:xfrm>
            <a:off x="713232" y="1252728"/>
            <a:ext cx="201168" cy="299923"/>
          </a:xfrm>
          <a:prstGeom prst="downArrow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125272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30976F"/>
                </a:solidFill>
                <a:latin typeface="Aptos"/>
              </a:rPr>
              <a:t>ZONE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25272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193D58"/>
                </a:solidFill>
                <a:latin typeface="Aptos"/>
              </a:rPr>
              <a:t>Highest energy consumption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243584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2A3942"/>
                </a:solidFill>
                <a:latin typeface="Aptos"/>
              </a:rPr>
              <a:t>Consider solar expansion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10515600" cy="694944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3232" y="2229307"/>
            <a:ext cx="373075" cy="138988"/>
          </a:xfrm>
          <a:prstGeom prst="round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91209" y="2167128"/>
            <a:ext cx="153619" cy="201168"/>
          </a:xfrm>
          <a:prstGeom prst="round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7785" y="2203704"/>
            <a:ext cx="73152" cy="51206"/>
          </a:xfrm>
          <a:prstGeom prst="roundRect">
            <a:avLst/>
          </a:prstGeom>
          <a:solidFill>
            <a:srgbClr val="ED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33856" y="2298801"/>
            <a:ext cx="43891" cy="36576"/>
          </a:xfrm>
          <a:prstGeom prst="round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1753" y="2328062"/>
            <a:ext cx="80467" cy="80467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3699" y="235000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27785" y="2328062"/>
            <a:ext cx="80467" cy="80467"/>
          </a:xfrm>
          <a:prstGeom prst="ellipse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9731" y="235000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61872" y="216712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2D6991"/>
                </a:solidFill>
                <a:latin typeface="Aptos"/>
              </a:rPr>
              <a:t>ROUTE 102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16712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193D58"/>
                </a:solidFill>
                <a:latin typeface="Aptos"/>
              </a:rPr>
              <a:t>Highest transport delays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157984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2A3942"/>
                </a:solidFill>
                <a:latin typeface="Aptos"/>
              </a:rPr>
              <a:t>Investigate scheduling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971800"/>
            <a:ext cx="10515600" cy="694944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13232" y="3081528"/>
            <a:ext cx="109728" cy="182880"/>
          </a:xfrm>
          <a:prstGeom prst="ellipse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93699" y="3081528"/>
            <a:ext cx="109728" cy="182880"/>
          </a:xfrm>
          <a:prstGeom prst="ellipse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5411" y="3213201"/>
            <a:ext cx="21945" cy="138988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61872" y="308152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5DB580"/>
                </a:solidFill>
                <a:latin typeface="Aptos"/>
              </a:rPr>
              <a:t>RECYCLABLE WASTE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308152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193D58"/>
                </a:solidFill>
                <a:latin typeface="Aptos"/>
              </a:rPr>
              <a:t>75% on-time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072384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2A3942"/>
                </a:solidFill>
                <a:latin typeface="Aptos"/>
              </a:rPr>
              <a:t>Target 90%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886200"/>
            <a:ext cx="10515600" cy="694944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8" y="4134916"/>
            <a:ext cx="263347" cy="109728"/>
          </a:xfrm>
          <a:prstGeom prst="round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93699" y="4058107"/>
            <a:ext cx="175564" cy="84124"/>
          </a:xfrm>
          <a:prstGeom prst="round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6617" y="3995928"/>
            <a:ext cx="102412" cy="65836"/>
          </a:xfrm>
          <a:prstGeom prst="round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61872" y="399592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E89445"/>
                </a:solidFill>
                <a:latin typeface="Aptos"/>
              </a:rPr>
              <a:t>ZONE 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399592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193D58"/>
                </a:solidFill>
                <a:latin typeface="Aptos"/>
              </a:rPr>
              <a:t>Critical incidents average 15+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986784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2A3942"/>
                </a:solidFill>
                <a:latin typeface="Aptos"/>
              </a:rPr>
              <a:t>Add response units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800600"/>
            <a:ext cx="10515600" cy="694944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Down Arrow 38"/>
          <p:cNvSpPr/>
          <p:nvPr/>
        </p:nvSpPr>
        <p:spPr>
          <a:xfrm>
            <a:off x="713232" y="4910328"/>
            <a:ext cx="201168" cy="299923"/>
          </a:xfrm>
          <a:prstGeom prst="downArrow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61872" y="491032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1">
                <a:solidFill>
                  <a:srgbClr val="193D58"/>
                </a:solidFill>
                <a:latin typeface="Aptos"/>
              </a:rPr>
              <a:t>ZONE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80" y="491032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193D58"/>
                </a:solidFill>
                <a:latin typeface="Aptos"/>
              </a:rPr>
              <a:t>Grid load averages 65%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4901184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2A3942"/>
                </a:solidFill>
                <a:latin typeface="Aptos"/>
              </a:rPr>
              <a:t>Monitor overload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5216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697C87"/>
                </a:solidFill>
                <a:latin typeface="Aptos"/>
              </a:rPr>
              <a:t>Portfolio-level insights from the supplied 30-day dataset; this is not live city telemetry.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12680" y="5577840"/>
            <a:ext cx="274320" cy="411479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67544" y="5841187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177272" y="5841187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067544" y="5939942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177272" y="5939942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336377" y="5330952"/>
            <a:ext cx="340156" cy="658368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391241" y="5594299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500969" y="5594299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391241" y="5693054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500969" y="5693054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391241" y="5791809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500969" y="5791809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725911" y="5649163"/>
            <a:ext cx="230428" cy="340156"/>
          </a:xfrm>
          <a:prstGeom prst="rect">
            <a:avLst/>
          </a:prstGeom>
          <a:solidFill>
            <a:srgbClr val="488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780776" y="5912510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890503" y="5912510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1005718" y="5166360"/>
            <a:ext cx="384048" cy="822959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1060582" y="5429707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170310" y="5429707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060582" y="5528462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1170310" y="5528462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060582" y="5627217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170310" y="5627217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1439143" y="5468112"/>
            <a:ext cx="285292" cy="521207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1494007" y="5731459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1603735" y="5731459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1494007" y="5830214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1603735" y="5830214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1494007" y="5928969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1603735" y="5928969"/>
            <a:ext cx="43891" cy="493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985248" y="5989320"/>
            <a:ext cx="1084112" cy="32918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3000">
        <p14:reveal/>
      </p:transition>
    </mc:Choice>
    <mc:Fallback>
      <p:transition spd="slow" advClick="0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" y="73152"/>
            <a:ext cx="11914632" cy="73152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3D58"/>
                </a:solidFill>
                <a:latin typeface="Aptos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85216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C87"/>
                </a:solidFill>
                <a:latin typeface="Aptos"/>
              </a:rPr>
              <a:t>Skills demonstrated through the Smart City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C87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074920" cy="10515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051560"/>
          </a:xfrm>
          <a:prstGeom prst="rect">
            <a:avLst/>
          </a:prstGeom>
          <a:solidFill>
            <a:srgbClr val="2D6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261872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Lookup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63624"/>
            <a:ext cx="4754880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XLOOKUP + INDEX-MATCH for zone and multi-criteria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43000"/>
            <a:ext cx="5074920" cy="10515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4864" cy="1051560"/>
          </a:xfrm>
          <a:prstGeom prst="rect">
            <a:avLst/>
          </a:prstGeom>
          <a:solidFill>
            <a:srgbClr val="309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1" y="1261872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Conditional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1563624"/>
            <a:ext cx="4754880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SUMIFS, COUNTIFS and AVERAGEIFS for operational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68880"/>
            <a:ext cx="5074920" cy="10515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468880"/>
            <a:ext cx="54864" cy="1051560"/>
          </a:xfrm>
          <a:prstGeom prst="rect">
            <a:avLst/>
          </a:prstGeom>
          <a:solidFill>
            <a:srgbClr val="5DB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2587752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Interactive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2889504"/>
            <a:ext cx="4754880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PivotTables, Slicers, KPIs and charts for dashboard use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468880"/>
            <a:ext cx="5074920" cy="10515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2468880"/>
            <a:ext cx="54864" cy="1051560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9631" y="2587752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Data modelling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2889504"/>
            <a:ext cx="4754880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Separate raw-data and calculation layers across domains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794760"/>
            <a:ext cx="5074920" cy="105156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73552" y="3794760"/>
            <a:ext cx="54864" cy="1051560"/>
          </a:xfrm>
          <a:prstGeom prst="rect">
            <a:avLst/>
          </a:prstGeom>
          <a:solidFill>
            <a:srgbClr val="E89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38144" y="3913632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93D58"/>
                </a:solidFill>
                <a:latin typeface="Aptos"/>
              </a:rPr>
              <a:t>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4215384"/>
            <a:ext cx="4754880" cy="539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2A3942"/>
                </a:solidFill>
                <a:latin typeface="Aptos"/>
              </a:rPr>
              <a:t>Professional Excel, PDF and PPT deliverables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623560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93D58"/>
                </a:solidFill>
                <a:latin typeface="Aptos"/>
              </a:rPr>
              <a:t>A portfolio-ready example of how spreadsheet engineering can support an operations dashboard.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5F2617-1B1E-294D-25FB-9CE0B4190982}"/>
              </a:ext>
            </a:extLst>
          </p:cNvPr>
          <p:cNvGrpSpPr/>
          <p:nvPr/>
        </p:nvGrpSpPr>
        <p:grpSpPr>
          <a:xfrm>
            <a:off x="530352" y="5349240"/>
            <a:ext cx="987552" cy="447689"/>
            <a:chOff x="594360" y="5349240"/>
            <a:chExt cx="987552" cy="447689"/>
          </a:xfrm>
        </p:grpSpPr>
        <p:sp>
          <p:nvSpPr>
            <p:cNvPr id="28" name="Rounded Rectangle 27"/>
            <p:cNvSpPr/>
            <p:nvPr/>
          </p:nvSpPr>
          <p:spPr>
            <a:xfrm>
              <a:off x="594360" y="5349240"/>
              <a:ext cx="987552" cy="408188"/>
            </a:xfrm>
            <a:prstGeom prst="roundRect">
              <a:avLst/>
            </a:prstGeom>
            <a:solidFill>
              <a:srgbClr val="309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673364" y="5428244"/>
              <a:ext cx="691286" cy="131673"/>
            </a:xfrm>
            <a:prstGeom prst="roundRect">
              <a:avLst/>
            </a:prstGeom>
            <a:solidFill>
              <a:srgbClr val="ED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99698" y="5447995"/>
              <a:ext cx="105338" cy="85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57707" y="5447995"/>
              <a:ext cx="105338" cy="85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15715" y="5447995"/>
              <a:ext cx="105338" cy="85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173723" y="5447995"/>
              <a:ext cx="105338" cy="85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758952" y="5665256"/>
              <a:ext cx="131673" cy="131673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1305397" y="5665256"/>
              <a:ext cx="131673" cy="131673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split orient="vert"/>
      </p:transition>
    </mc:Choice>
    <mc:Fallback>
      <p:transition spd="slow" advClick="0" advTm="2000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" y="73152"/>
            <a:ext cx="11914632" cy="73152"/>
          </a:xfrm>
          <a:prstGeom prst="rect">
            <a:avLst/>
          </a:prstGeom>
          <a:solidFill>
            <a:srgbClr val="19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200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93D58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C87"/>
                </a:solidFill>
                <a:latin typeface="Aptos"/>
              </a:rPr>
              <a:t>From raw city data to operational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3D58"/>
                </a:solidFill>
                <a:latin typeface="Aptos"/>
              </a:rPr>
              <a:t>This project demonstrates how four operational domains can be combined into a clear, interactive view of city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2514600" cy="132588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5409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3D58"/>
                </a:solidFill>
                <a:latin typeface="Aptos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40156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0">
                <a:solidFill>
                  <a:srgbClr val="2A3942"/>
                </a:solidFill>
                <a:latin typeface="Aptos"/>
              </a:rPr>
              <a:t>Structure raw data across four domains.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743200"/>
            <a:ext cx="2514600" cy="132588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79" y="305409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3D58"/>
                </a:solidFill>
                <a:latin typeface="Aptos"/>
              </a:rPr>
              <a:t>CALCULATE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40156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0">
                <a:solidFill>
                  <a:srgbClr val="2A3942"/>
                </a:solidFill>
                <a:latin typeface="Aptos"/>
              </a:rPr>
              <a:t>Use lookups and conditional aggregation.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743200"/>
            <a:ext cx="2514600" cy="132588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05409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3D58"/>
                </a:solidFill>
                <a:latin typeface="Aptos"/>
              </a:rPr>
              <a:t>VISUALIZE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40156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0">
                <a:solidFill>
                  <a:srgbClr val="2A3942"/>
                </a:solidFill>
                <a:latin typeface="Aptos"/>
              </a:rPr>
              <a:t>Build KPIs, PivotTables and interactive 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743200"/>
            <a:ext cx="2514600" cy="1325880"/>
          </a:xfrm>
          <a:prstGeom prst="roundRect">
            <a:avLst/>
          </a:prstGeom>
          <a:solidFill>
            <a:srgbClr val="EDF6F9"/>
          </a:solidFill>
          <a:ln w="8890">
            <a:solidFill>
              <a:srgbClr val="CF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3054096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93D58"/>
                </a:solidFill>
                <a:latin typeface="Aptos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340156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0">
                <a:solidFill>
                  <a:srgbClr val="2A3942"/>
                </a:solidFill>
                <a:latin typeface="Aptos"/>
              </a:rPr>
              <a:t>Translate patterns into operational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749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0976F"/>
                </a:solidFill>
                <a:latin typeface="Aptos"/>
              </a:rPr>
              <a:t>Smart City Operations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406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97C87"/>
                </a:solidFill>
                <a:latin typeface="Aptos"/>
              </a:rPr>
              <a:t>Advanced Excel Project • Transport • Energy • Waste • Emergency Services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A0D9248-05C8-4894-BADE-B1B92ED15F8A}"/>
              </a:ext>
            </a:extLst>
          </p:cNvPr>
          <p:cNvGrpSpPr/>
          <p:nvPr/>
        </p:nvGrpSpPr>
        <p:grpSpPr>
          <a:xfrm>
            <a:off x="8561070" y="4869180"/>
            <a:ext cx="2622042" cy="1069848"/>
            <a:chOff x="8561070" y="4869180"/>
            <a:chExt cx="2622042" cy="1069848"/>
          </a:xfrm>
        </p:grpSpPr>
        <p:sp>
          <p:nvSpPr>
            <p:cNvPr id="21" name="Rectangle 20"/>
            <p:cNvSpPr/>
            <p:nvPr/>
          </p:nvSpPr>
          <p:spPr>
            <a:xfrm>
              <a:off x="8595360" y="5383530"/>
              <a:ext cx="342900" cy="514350"/>
            </a:xfrm>
            <a:prstGeom prst="rect">
              <a:avLst/>
            </a:prstGeom>
            <a:solidFill>
              <a:srgbClr val="2D699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663940" y="5712714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801100" y="5712714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663940" y="583615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801100" y="583615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999982" y="5074920"/>
              <a:ext cx="425196" cy="822959"/>
            </a:xfrm>
            <a:prstGeom prst="rect">
              <a:avLst/>
            </a:prstGeom>
            <a:solidFill>
              <a:srgbClr val="309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068562" y="5404104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205722" y="5404104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068562" y="552754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205722" y="552754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068562" y="5650992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205722" y="5650992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486900" y="5472684"/>
              <a:ext cx="288036" cy="425196"/>
            </a:xfrm>
            <a:prstGeom prst="rect">
              <a:avLst/>
            </a:prstGeom>
            <a:solidFill>
              <a:srgbClr val="488BA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555480" y="580186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692640" y="580186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9836658" y="4869180"/>
              <a:ext cx="480059" cy="1028700"/>
            </a:xfrm>
            <a:prstGeom prst="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905238" y="5198364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042398" y="5198364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9905238" y="532180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042398" y="532180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5238" y="5445252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042398" y="5445252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378440" y="5246370"/>
              <a:ext cx="356616" cy="651509"/>
            </a:xfrm>
            <a:prstGeom prst="rect">
              <a:avLst/>
            </a:prstGeom>
            <a:solidFill>
              <a:srgbClr val="5DB5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0447020" y="5575554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584180" y="5575554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0447020" y="569899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10584180" y="5698998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447020" y="5822442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0584180" y="5822442"/>
              <a:ext cx="54864" cy="61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561070" y="5897880"/>
              <a:ext cx="1685353" cy="41148"/>
            </a:xfrm>
            <a:prstGeom prst="rect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10195560" y="5257800"/>
              <a:ext cx="987552" cy="408188"/>
            </a:xfrm>
            <a:prstGeom prst="roundRect">
              <a:avLst/>
            </a:prstGeom>
            <a:solidFill>
              <a:srgbClr val="30976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10293401" y="5336804"/>
              <a:ext cx="691286" cy="131673"/>
            </a:xfrm>
            <a:prstGeom prst="roundRect">
              <a:avLst/>
            </a:prstGeom>
            <a:solidFill>
              <a:srgbClr val="EDF6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10300898" y="5356555"/>
              <a:ext cx="105338" cy="85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10458907" y="5356555"/>
              <a:ext cx="105338" cy="85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616915" y="5356555"/>
              <a:ext cx="105338" cy="85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0774923" y="5356555"/>
              <a:ext cx="105338" cy="855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Oval 56"/>
            <p:cNvSpPr/>
            <p:nvPr/>
          </p:nvSpPr>
          <p:spPr>
            <a:xfrm>
              <a:off x="10360152" y="5573816"/>
              <a:ext cx="131673" cy="131673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Oval 57"/>
            <p:cNvSpPr/>
            <p:nvPr/>
          </p:nvSpPr>
          <p:spPr>
            <a:xfrm>
              <a:off x="10906597" y="5573816"/>
              <a:ext cx="131673" cy="131673"/>
            </a:xfrm>
            <a:prstGeom prst="ellipse">
              <a:avLst/>
            </a:prstGeom>
            <a:solidFill>
              <a:srgbClr val="193D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Click="0" advTm="2000">
        <p:randomBar dir="vert"/>
      </p:transition>
    </mc:Choice>
    <mc:Fallback>
      <p:transition spd="slow" advClick="0" advTm="2000">
        <p:randomBar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637</Words>
  <Application>Microsoft Office PowerPoint</Application>
  <PresentationFormat>Widescreen</PresentationFormat>
  <Paragraphs>175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Lets's Explore It</cp:lastModifiedBy>
  <cp:revision>11</cp:revision>
  <dcterms:created xsi:type="dcterms:W3CDTF">2013-01-27T09:14:16Z</dcterms:created>
  <dcterms:modified xsi:type="dcterms:W3CDTF">2026-10-09T08:04:00Z</dcterms:modified>
  <cp:category/>
</cp:coreProperties>
</file>